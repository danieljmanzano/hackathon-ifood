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12192000"/>
  <p:embeddedFontLst>
    <p:embeddedFont>
      <p:font typeface="Noto Sans"/>
      <p:regular r:id="rId17"/>
      <p:bold r:id="rId18"/>
      <p:italic r:id="rId19"/>
      <p:boldItalic r:id="rId20"/>
    </p:embeddedFont>
    <p:embeddedFont>
      <p:font typeface="Rubik"/>
      <p:regular r:id="rId21"/>
      <p:bold r:id="rId22"/>
      <p:italic r:id="rId23"/>
      <p:boldItalic r:id="rId24"/>
    </p:embeddedFont>
    <p:embeddedFont>
      <p:font typeface="DM Sans"/>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9" roundtripDataSignature="AMtx7mj7gF1xXMadnfgdIytPumiTWXF7T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NotoSans-boldItalic.fntdata"/><Relationship Id="rId22" Type="http://schemas.openxmlformats.org/officeDocument/2006/relationships/font" Target="fonts/Rubik-bold.fntdata"/><Relationship Id="rId21" Type="http://schemas.openxmlformats.org/officeDocument/2006/relationships/font" Target="fonts/Rubik-regular.fntdata"/><Relationship Id="rId24" Type="http://schemas.openxmlformats.org/officeDocument/2006/relationships/font" Target="fonts/Rubik-boldItalic.fntdata"/><Relationship Id="rId23" Type="http://schemas.openxmlformats.org/officeDocument/2006/relationships/font" Target="fonts/Rubik-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DMSans-bold.fntdata"/><Relationship Id="rId25" Type="http://schemas.openxmlformats.org/officeDocument/2006/relationships/font" Target="fonts/DMSans-regular.fntdata"/><Relationship Id="rId28" Type="http://schemas.openxmlformats.org/officeDocument/2006/relationships/font" Target="fonts/DMSans-boldItalic.fntdata"/><Relationship Id="rId27" Type="http://schemas.openxmlformats.org/officeDocument/2006/relationships/font" Target="fonts/DMSans-italic.fntdata"/><Relationship Id="rId5" Type="http://schemas.openxmlformats.org/officeDocument/2006/relationships/slide" Target="slides/slide1.xml"/><Relationship Id="rId6" Type="http://schemas.openxmlformats.org/officeDocument/2006/relationships/slide" Target="slides/slide2.xml"/><Relationship Id="rId29"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NotoSans-regular.fntdata"/><Relationship Id="rId16" Type="http://schemas.openxmlformats.org/officeDocument/2006/relationships/slide" Target="slides/slide12.xml"/><Relationship Id="rId19" Type="http://schemas.openxmlformats.org/officeDocument/2006/relationships/font" Target="fonts/NotoSans-italic.fntdata"/><Relationship Id="rId18" Type="http://schemas.openxmlformats.org/officeDocument/2006/relationships/font" Target="fonts/NotoSans-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DM Sans"/>
                <a:ea typeface="DM Sans"/>
                <a:cs typeface="DM Sans"/>
                <a:sym typeface="DM Sans"/>
              </a:defRPr>
            </a:lvl1pPr>
            <a:lvl2pPr lvl="1" marR="0" rtl="0" algn="l">
              <a:spcBef>
                <a:spcPts val="0"/>
              </a:spcBef>
              <a:spcAft>
                <a:spcPts val="0"/>
              </a:spcAft>
              <a:buSzPts val="1400"/>
              <a:buNone/>
              <a:defRPr b="0" i="0" sz="1800" u="none" cap="none" strike="noStrike">
                <a:solidFill>
                  <a:schemeClr val="dk1"/>
                </a:solidFill>
                <a:latin typeface="DM Sans"/>
                <a:ea typeface="DM Sans"/>
                <a:cs typeface="DM Sans"/>
                <a:sym typeface="DM Sans"/>
              </a:defRPr>
            </a:lvl2pPr>
            <a:lvl3pPr lvl="2" marR="0" rtl="0" algn="l">
              <a:spcBef>
                <a:spcPts val="0"/>
              </a:spcBef>
              <a:spcAft>
                <a:spcPts val="0"/>
              </a:spcAft>
              <a:buSzPts val="1400"/>
              <a:buNone/>
              <a:defRPr b="0" i="0" sz="1800" u="none" cap="none" strike="noStrike">
                <a:solidFill>
                  <a:schemeClr val="dk1"/>
                </a:solidFill>
                <a:latin typeface="DM Sans"/>
                <a:ea typeface="DM Sans"/>
                <a:cs typeface="DM Sans"/>
                <a:sym typeface="DM Sans"/>
              </a:defRPr>
            </a:lvl3pPr>
            <a:lvl4pPr lvl="3" marR="0" rtl="0" algn="l">
              <a:spcBef>
                <a:spcPts val="0"/>
              </a:spcBef>
              <a:spcAft>
                <a:spcPts val="0"/>
              </a:spcAft>
              <a:buSzPts val="1400"/>
              <a:buNone/>
              <a:defRPr b="0" i="0" sz="1800" u="none" cap="none" strike="noStrike">
                <a:solidFill>
                  <a:schemeClr val="dk1"/>
                </a:solidFill>
                <a:latin typeface="DM Sans"/>
                <a:ea typeface="DM Sans"/>
                <a:cs typeface="DM Sans"/>
                <a:sym typeface="DM Sans"/>
              </a:defRPr>
            </a:lvl4pPr>
            <a:lvl5pPr lvl="4" marR="0" rtl="0" algn="l">
              <a:spcBef>
                <a:spcPts val="0"/>
              </a:spcBef>
              <a:spcAft>
                <a:spcPts val="0"/>
              </a:spcAft>
              <a:buSzPts val="1400"/>
              <a:buNone/>
              <a:defRPr b="0" i="0" sz="1800" u="none" cap="none" strike="noStrike">
                <a:solidFill>
                  <a:schemeClr val="dk1"/>
                </a:solidFill>
                <a:latin typeface="DM Sans"/>
                <a:ea typeface="DM Sans"/>
                <a:cs typeface="DM Sans"/>
                <a:sym typeface="DM Sans"/>
              </a:defRPr>
            </a:lvl5pPr>
            <a:lvl6pPr lvl="5" marR="0" rtl="0" algn="l">
              <a:spcBef>
                <a:spcPts val="0"/>
              </a:spcBef>
              <a:spcAft>
                <a:spcPts val="0"/>
              </a:spcAft>
              <a:buSzPts val="1400"/>
              <a:buNone/>
              <a:defRPr b="0" i="0" sz="1800" u="none" cap="none" strike="noStrike">
                <a:solidFill>
                  <a:schemeClr val="dk1"/>
                </a:solidFill>
                <a:latin typeface="DM Sans"/>
                <a:ea typeface="DM Sans"/>
                <a:cs typeface="DM Sans"/>
                <a:sym typeface="DM Sans"/>
              </a:defRPr>
            </a:lvl6pPr>
            <a:lvl7pPr lvl="6" marR="0" rtl="0" algn="l">
              <a:spcBef>
                <a:spcPts val="0"/>
              </a:spcBef>
              <a:spcAft>
                <a:spcPts val="0"/>
              </a:spcAft>
              <a:buSzPts val="1400"/>
              <a:buNone/>
              <a:defRPr b="0" i="0" sz="1800" u="none" cap="none" strike="noStrike">
                <a:solidFill>
                  <a:schemeClr val="dk1"/>
                </a:solidFill>
                <a:latin typeface="DM Sans"/>
                <a:ea typeface="DM Sans"/>
                <a:cs typeface="DM Sans"/>
                <a:sym typeface="DM Sans"/>
              </a:defRPr>
            </a:lvl7pPr>
            <a:lvl8pPr lvl="7" marR="0" rtl="0" algn="l">
              <a:spcBef>
                <a:spcPts val="0"/>
              </a:spcBef>
              <a:spcAft>
                <a:spcPts val="0"/>
              </a:spcAft>
              <a:buSzPts val="1400"/>
              <a:buNone/>
              <a:defRPr b="0" i="0" sz="1800" u="none" cap="none" strike="noStrike">
                <a:solidFill>
                  <a:schemeClr val="dk1"/>
                </a:solidFill>
                <a:latin typeface="DM Sans"/>
                <a:ea typeface="DM Sans"/>
                <a:cs typeface="DM Sans"/>
                <a:sym typeface="DM Sans"/>
              </a:defRPr>
            </a:lvl8pPr>
            <a:lvl9pPr lvl="8" marR="0" rtl="0" algn="l">
              <a:spcBef>
                <a:spcPts val="0"/>
              </a:spcBef>
              <a:spcAft>
                <a:spcPts val="0"/>
              </a:spcAft>
              <a:buSzPts val="1400"/>
              <a:buNone/>
              <a:defRPr b="0" i="0" sz="1800" u="none" cap="none" strike="noStrike">
                <a:solidFill>
                  <a:schemeClr val="dk1"/>
                </a:solidFill>
                <a:latin typeface="DM Sans"/>
                <a:ea typeface="DM Sans"/>
                <a:cs typeface="DM Sans"/>
                <a:sym typeface="DM Sans"/>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DM Sans"/>
                <a:ea typeface="DM Sans"/>
                <a:cs typeface="DM Sans"/>
                <a:sym typeface="DM Sans"/>
              </a:defRPr>
            </a:lvl1pPr>
            <a:lvl2pPr lvl="1" marR="0" rtl="0" algn="l">
              <a:spcBef>
                <a:spcPts val="0"/>
              </a:spcBef>
              <a:spcAft>
                <a:spcPts val="0"/>
              </a:spcAft>
              <a:buSzPts val="1400"/>
              <a:buNone/>
              <a:defRPr b="0" i="0" sz="1800" u="none" cap="none" strike="noStrike">
                <a:solidFill>
                  <a:schemeClr val="dk1"/>
                </a:solidFill>
                <a:latin typeface="DM Sans"/>
                <a:ea typeface="DM Sans"/>
                <a:cs typeface="DM Sans"/>
                <a:sym typeface="DM Sans"/>
              </a:defRPr>
            </a:lvl2pPr>
            <a:lvl3pPr lvl="2" marR="0" rtl="0" algn="l">
              <a:spcBef>
                <a:spcPts val="0"/>
              </a:spcBef>
              <a:spcAft>
                <a:spcPts val="0"/>
              </a:spcAft>
              <a:buSzPts val="1400"/>
              <a:buNone/>
              <a:defRPr b="0" i="0" sz="1800" u="none" cap="none" strike="noStrike">
                <a:solidFill>
                  <a:schemeClr val="dk1"/>
                </a:solidFill>
                <a:latin typeface="DM Sans"/>
                <a:ea typeface="DM Sans"/>
                <a:cs typeface="DM Sans"/>
                <a:sym typeface="DM Sans"/>
              </a:defRPr>
            </a:lvl3pPr>
            <a:lvl4pPr lvl="3" marR="0" rtl="0" algn="l">
              <a:spcBef>
                <a:spcPts val="0"/>
              </a:spcBef>
              <a:spcAft>
                <a:spcPts val="0"/>
              </a:spcAft>
              <a:buSzPts val="1400"/>
              <a:buNone/>
              <a:defRPr b="0" i="0" sz="1800" u="none" cap="none" strike="noStrike">
                <a:solidFill>
                  <a:schemeClr val="dk1"/>
                </a:solidFill>
                <a:latin typeface="DM Sans"/>
                <a:ea typeface="DM Sans"/>
                <a:cs typeface="DM Sans"/>
                <a:sym typeface="DM Sans"/>
              </a:defRPr>
            </a:lvl4pPr>
            <a:lvl5pPr lvl="4" marR="0" rtl="0" algn="l">
              <a:spcBef>
                <a:spcPts val="0"/>
              </a:spcBef>
              <a:spcAft>
                <a:spcPts val="0"/>
              </a:spcAft>
              <a:buSzPts val="1400"/>
              <a:buNone/>
              <a:defRPr b="0" i="0" sz="1800" u="none" cap="none" strike="noStrike">
                <a:solidFill>
                  <a:schemeClr val="dk1"/>
                </a:solidFill>
                <a:latin typeface="DM Sans"/>
                <a:ea typeface="DM Sans"/>
                <a:cs typeface="DM Sans"/>
                <a:sym typeface="DM Sans"/>
              </a:defRPr>
            </a:lvl5pPr>
            <a:lvl6pPr lvl="5" marR="0" rtl="0" algn="l">
              <a:spcBef>
                <a:spcPts val="0"/>
              </a:spcBef>
              <a:spcAft>
                <a:spcPts val="0"/>
              </a:spcAft>
              <a:buSzPts val="1400"/>
              <a:buNone/>
              <a:defRPr b="0" i="0" sz="1800" u="none" cap="none" strike="noStrike">
                <a:solidFill>
                  <a:schemeClr val="dk1"/>
                </a:solidFill>
                <a:latin typeface="DM Sans"/>
                <a:ea typeface="DM Sans"/>
                <a:cs typeface="DM Sans"/>
                <a:sym typeface="DM Sans"/>
              </a:defRPr>
            </a:lvl6pPr>
            <a:lvl7pPr lvl="6" marR="0" rtl="0" algn="l">
              <a:spcBef>
                <a:spcPts val="0"/>
              </a:spcBef>
              <a:spcAft>
                <a:spcPts val="0"/>
              </a:spcAft>
              <a:buSzPts val="1400"/>
              <a:buNone/>
              <a:defRPr b="0" i="0" sz="1800" u="none" cap="none" strike="noStrike">
                <a:solidFill>
                  <a:schemeClr val="dk1"/>
                </a:solidFill>
                <a:latin typeface="DM Sans"/>
                <a:ea typeface="DM Sans"/>
                <a:cs typeface="DM Sans"/>
                <a:sym typeface="DM Sans"/>
              </a:defRPr>
            </a:lvl7pPr>
            <a:lvl8pPr lvl="7" marR="0" rtl="0" algn="l">
              <a:spcBef>
                <a:spcPts val="0"/>
              </a:spcBef>
              <a:spcAft>
                <a:spcPts val="0"/>
              </a:spcAft>
              <a:buSzPts val="1400"/>
              <a:buNone/>
              <a:defRPr b="0" i="0" sz="1800" u="none" cap="none" strike="noStrike">
                <a:solidFill>
                  <a:schemeClr val="dk1"/>
                </a:solidFill>
                <a:latin typeface="DM Sans"/>
                <a:ea typeface="DM Sans"/>
                <a:cs typeface="DM Sans"/>
                <a:sym typeface="DM Sans"/>
              </a:defRPr>
            </a:lvl8pPr>
            <a:lvl9pPr lvl="8" marR="0" rtl="0" algn="l">
              <a:spcBef>
                <a:spcPts val="0"/>
              </a:spcBef>
              <a:spcAft>
                <a:spcPts val="0"/>
              </a:spcAft>
              <a:buSzPts val="1400"/>
              <a:buNone/>
              <a:defRPr b="0" i="0" sz="1800" u="none" cap="none" strike="noStrike">
                <a:solidFill>
                  <a:schemeClr val="dk1"/>
                </a:solidFill>
                <a:latin typeface="DM Sans"/>
                <a:ea typeface="DM Sans"/>
                <a:cs typeface="DM Sans"/>
                <a:sym typeface="DM Sans"/>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DM Sans"/>
                <a:ea typeface="DM Sans"/>
                <a:cs typeface="DM Sans"/>
                <a:sym typeface="DM Sans"/>
              </a:defRPr>
            </a:lvl1pPr>
            <a:lvl2pPr indent="-228600" lvl="1" marL="914400" marR="0" rtl="0" algn="l">
              <a:spcBef>
                <a:spcPts val="0"/>
              </a:spcBef>
              <a:spcAft>
                <a:spcPts val="0"/>
              </a:spcAft>
              <a:buSzPts val="1400"/>
              <a:buNone/>
              <a:defRPr b="0" i="0" sz="1200" u="none" cap="none" strike="noStrike">
                <a:solidFill>
                  <a:schemeClr val="dk1"/>
                </a:solidFill>
                <a:latin typeface="DM Sans"/>
                <a:ea typeface="DM Sans"/>
                <a:cs typeface="DM Sans"/>
                <a:sym typeface="DM Sans"/>
              </a:defRPr>
            </a:lvl2pPr>
            <a:lvl3pPr indent="-228600" lvl="2" marL="1371600" marR="0" rtl="0" algn="l">
              <a:spcBef>
                <a:spcPts val="0"/>
              </a:spcBef>
              <a:spcAft>
                <a:spcPts val="0"/>
              </a:spcAft>
              <a:buSzPts val="1400"/>
              <a:buNone/>
              <a:defRPr b="0" i="0" sz="1200" u="none" cap="none" strike="noStrike">
                <a:solidFill>
                  <a:schemeClr val="dk1"/>
                </a:solidFill>
                <a:latin typeface="DM Sans"/>
                <a:ea typeface="DM Sans"/>
                <a:cs typeface="DM Sans"/>
                <a:sym typeface="DM Sans"/>
              </a:defRPr>
            </a:lvl3pPr>
            <a:lvl4pPr indent="-228600" lvl="3" marL="1828800" marR="0" rtl="0" algn="l">
              <a:spcBef>
                <a:spcPts val="0"/>
              </a:spcBef>
              <a:spcAft>
                <a:spcPts val="0"/>
              </a:spcAft>
              <a:buSzPts val="1400"/>
              <a:buNone/>
              <a:defRPr b="0" i="0" sz="1200" u="none" cap="none" strike="noStrike">
                <a:solidFill>
                  <a:schemeClr val="dk1"/>
                </a:solidFill>
                <a:latin typeface="DM Sans"/>
                <a:ea typeface="DM Sans"/>
                <a:cs typeface="DM Sans"/>
                <a:sym typeface="DM Sans"/>
              </a:defRPr>
            </a:lvl4pPr>
            <a:lvl5pPr indent="-228600" lvl="4" marL="2286000" marR="0" rtl="0" algn="l">
              <a:spcBef>
                <a:spcPts val="0"/>
              </a:spcBef>
              <a:spcAft>
                <a:spcPts val="0"/>
              </a:spcAft>
              <a:buSzPts val="1400"/>
              <a:buNone/>
              <a:defRPr b="0" i="0" sz="1200" u="none" cap="none" strike="noStrike">
                <a:solidFill>
                  <a:schemeClr val="dk1"/>
                </a:solidFill>
                <a:latin typeface="DM Sans"/>
                <a:ea typeface="DM Sans"/>
                <a:cs typeface="DM Sans"/>
                <a:sym typeface="DM Sans"/>
              </a:defRPr>
            </a:lvl5pPr>
            <a:lvl6pPr indent="-228600" lvl="5" marL="2743200" marR="0" rtl="0" algn="l">
              <a:spcBef>
                <a:spcPts val="0"/>
              </a:spcBef>
              <a:spcAft>
                <a:spcPts val="0"/>
              </a:spcAft>
              <a:buSzPts val="1400"/>
              <a:buNone/>
              <a:defRPr b="0" i="0" sz="1200" u="none" cap="none" strike="noStrike">
                <a:solidFill>
                  <a:schemeClr val="dk1"/>
                </a:solidFill>
                <a:latin typeface="DM Sans"/>
                <a:ea typeface="DM Sans"/>
                <a:cs typeface="DM Sans"/>
                <a:sym typeface="DM Sans"/>
              </a:defRPr>
            </a:lvl6pPr>
            <a:lvl7pPr indent="-228600" lvl="6" marL="3200400" marR="0" rtl="0" algn="l">
              <a:spcBef>
                <a:spcPts val="0"/>
              </a:spcBef>
              <a:spcAft>
                <a:spcPts val="0"/>
              </a:spcAft>
              <a:buSzPts val="1400"/>
              <a:buNone/>
              <a:defRPr b="0" i="0" sz="1200" u="none" cap="none" strike="noStrike">
                <a:solidFill>
                  <a:schemeClr val="dk1"/>
                </a:solidFill>
                <a:latin typeface="DM Sans"/>
                <a:ea typeface="DM Sans"/>
                <a:cs typeface="DM Sans"/>
                <a:sym typeface="DM Sans"/>
              </a:defRPr>
            </a:lvl7pPr>
            <a:lvl8pPr indent="-228600" lvl="7" marL="3657600" marR="0" rtl="0" algn="l">
              <a:spcBef>
                <a:spcPts val="0"/>
              </a:spcBef>
              <a:spcAft>
                <a:spcPts val="0"/>
              </a:spcAft>
              <a:buSzPts val="1400"/>
              <a:buNone/>
              <a:defRPr b="0" i="0" sz="1200" u="none" cap="none" strike="noStrike">
                <a:solidFill>
                  <a:schemeClr val="dk1"/>
                </a:solidFill>
                <a:latin typeface="DM Sans"/>
                <a:ea typeface="DM Sans"/>
                <a:cs typeface="DM Sans"/>
                <a:sym typeface="DM Sans"/>
              </a:defRPr>
            </a:lvl8pPr>
            <a:lvl9pPr indent="-228600" lvl="8" marL="4114800" marR="0" rtl="0" algn="l">
              <a:spcBef>
                <a:spcPts val="0"/>
              </a:spcBef>
              <a:spcAft>
                <a:spcPts val="0"/>
              </a:spcAft>
              <a:buSzPts val="1400"/>
              <a:buNone/>
              <a:defRPr b="0" i="0" sz="1200" u="none" cap="none" strike="noStrike">
                <a:solidFill>
                  <a:schemeClr val="dk1"/>
                </a:solidFill>
                <a:latin typeface="DM Sans"/>
                <a:ea typeface="DM Sans"/>
                <a:cs typeface="DM Sans"/>
                <a:sym typeface="DM Sans"/>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DM Sans"/>
                <a:ea typeface="DM Sans"/>
                <a:cs typeface="DM Sans"/>
                <a:sym typeface="DM Sans"/>
              </a:defRPr>
            </a:lvl1pPr>
            <a:lvl2pPr lvl="1" marR="0" rtl="0" algn="l">
              <a:spcBef>
                <a:spcPts val="0"/>
              </a:spcBef>
              <a:spcAft>
                <a:spcPts val="0"/>
              </a:spcAft>
              <a:buSzPts val="1400"/>
              <a:buNone/>
              <a:defRPr b="0" i="0" sz="1800" u="none" cap="none" strike="noStrike">
                <a:solidFill>
                  <a:schemeClr val="dk1"/>
                </a:solidFill>
                <a:latin typeface="DM Sans"/>
                <a:ea typeface="DM Sans"/>
                <a:cs typeface="DM Sans"/>
                <a:sym typeface="DM Sans"/>
              </a:defRPr>
            </a:lvl2pPr>
            <a:lvl3pPr lvl="2" marR="0" rtl="0" algn="l">
              <a:spcBef>
                <a:spcPts val="0"/>
              </a:spcBef>
              <a:spcAft>
                <a:spcPts val="0"/>
              </a:spcAft>
              <a:buSzPts val="1400"/>
              <a:buNone/>
              <a:defRPr b="0" i="0" sz="1800" u="none" cap="none" strike="noStrike">
                <a:solidFill>
                  <a:schemeClr val="dk1"/>
                </a:solidFill>
                <a:latin typeface="DM Sans"/>
                <a:ea typeface="DM Sans"/>
                <a:cs typeface="DM Sans"/>
                <a:sym typeface="DM Sans"/>
              </a:defRPr>
            </a:lvl3pPr>
            <a:lvl4pPr lvl="3" marR="0" rtl="0" algn="l">
              <a:spcBef>
                <a:spcPts val="0"/>
              </a:spcBef>
              <a:spcAft>
                <a:spcPts val="0"/>
              </a:spcAft>
              <a:buSzPts val="1400"/>
              <a:buNone/>
              <a:defRPr b="0" i="0" sz="1800" u="none" cap="none" strike="noStrike">
                <a:solidFill>
                  <a:schemeClr val="dk1"/>
                </a:solidFill>
                <a:latin typeface="DM Sans"/>
                <a:ea typeface="DM Sans"/>
                <a:cs typeface="DM Sans"/>
                <a:sym typeface="DM Sans"/>
              </a:defRPr>
            </a:lvl4pPr>
            <a:lvl5pPr lvl="4" marR="0" rtl="0" algn="l">
              <a:spcBef>
                <a:spcPts val="0"/>
              </a:spcBef>
              <a:spcAft>
                <a:spcPts val="0"/>
              </a:spcAft>
              <a:buSzPts val="1400"/>
              <a:buNone/>
              <a:defRPr b="0" i="0" sz="1800" u="none" cap="none" strike="noStrike">
                <a:solidFill>
                  <a:schemeClr val="dk1"/>
                </a:solidFill>
                <a:latin typeface="DM Sans"/>
                <a:ea typeface="DM Sans"/>
                <a:cs typeface="DM Sans"/>
                <a:sym typeface="DM Sans"/>
              </a:defRPr>
            </a:lvl5pPr>
            <a:lvl6pPr lvl="5" marR="0" rtl="0" algn="l">
              <a:spcBef>
                <a:spcPts val="0"/>
              </a:spcBef>
              <a:spcAft>
                <a:spcPts val="0"/>
              </a:spcAft>
              <a:buSzPts val="1400"/>
              <a:buNone/>
              <a:defRPr b="0" i="0" sz="1800" u="none" cap="none" strike="noStrike">
                <a:solidFill>
                  <a:schemeClr val="dk1"/>
                </a:solidFill>
                <a:latin typeface="DM Sans"/>
                <a:ea typeface="DM Sans"/>
                <a:cs typeface="DM Sans"/>
                <a:sym typeface="DM Sans"/>
              </a:defRPr>
            </a:lvl6pPr>
            <a:lvl7pPr lvl="6" marR="0" rtl="0" algn="l">
              <a:spcBef>
                <a:spcPts val="0"/>
              </a:spcBef>
              <a:spcAft>
                <a:spcPts val="0"/>
              </a:spcAft>
              <a:buSzPts val="1400"/>
              <a:buNone/>
              <a:defRPr b="0" i="0" sz="1800" u="none" cap="none" strike="noStrike">
                <a:solidFill>
                  <a:schemeClr val="dk1"/>
                </a:solidFill>
                <a:latin typeface="DM Sans"/>
                <a:ea typeface="DM Sans"/>
                <a:cs typeface="DM Sans"/>
                <a:sym typeface="DM Sans"/>
              </a:defRPr>
            </a:lvl7pPr>
            <a:lvl8pPr lvl="7" marR="0" rtl="0" algn="l">
              <a:spcBef>
                <a:spcPts val="0"/>
              </a:spcBef>
              <a:spcAft>
                <a:spcPts val="0"/>
              </a:spcAft>
              <a:buSzPts val="1400"/>
              <a:buNone/>
              <a:defRPr b="0" i="0" sz="1800" u="none" cap="none" strike="noStrike">
                <a:solidFill>
                  <a:schemeClr val="dk1"/>
                </a:solidFill>
                <a:latin typeface="DM Sans"/>
                <a:ea typeface="DM Sans"/>
                <a:cs typeface="DM Sans"/>
                <a:sym typeface="DM Sans"/>
              </a:defRPr>
            </a:lvl8pPr>
            <a:lvl9pPr lvl="8" marR="0" rtl="0" algn="l">
              <a:spcBef>
                <a:spcPts val="0"/>
              </a:spcBef>
              <a:spcAft>
                <a:spcPts val="0"/>
              </a:spcAft>
              <a:buSzPts val="1400"/>
              <a:buNone/>
              <a:defRPr b="0" i="0" sz="1800" u="none" cap="none" strike="noStrike">
                <a:solidFill>
                  <a:schemeClr val="dk1"/>
                </a:solidFill>
                <a:latin typeface="DM Sans"/>
                <a:ea typeface="DM Sans"/>
                <a:cs typeface="DM Sans"/>
                <a:sym typeface="DM Sans"/>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DM Sans"/>
                <a:ea typeface="DM Sans"/>
                <a:cs typeface="DM Sans"/>
                <a:sym typeface="DM Sans"/>
              </a:rPr>
              <a:t>‹#›</a:t>
            </a:fld>
            <a:endParaRPr b="0" i="0" sz="1200" u="none" cap="none" strike="noStrike">
              <a:solidFill>
                <a:schemeClr val="dk1"/>
              </a:solidFill>
              <a:latin typeface="DM Sans"/>
              <a:ea typeface="DM Sans"/>
              <a:cs typeface="DM Sans"/>
              <a:sym typeface="DM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 name="Shape 17"/>
        <p:cNvGrpSpPr/>
        <p:nvPr/>
      </p:nvGrpSpPr>
      <p:grpSpPr>
        <a:xfrm>
          <a:off x="0" y="0"/>
          <a:ext cx="0" cy="0"/>
          <a:chOff x="0" y="0"/>
          <a:chExt cx="0" cy="0"/>
        </a:xfrm>
      </p:grpSpPr>
      <p:sp>
        <p:nvSpPr>
          <p:cNvPr id="18" name="Google Shape;1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 name="Google Shape;1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(~15 s) Apresentar o grupo e o tema: vamos propor uma forma de aproximar o iFood do universo fitness.</a:t>
            </a:r>
            <a:endParaRPr/>
          </a:p>
        </p:txBody>
      </p:sp>
      <p:sp>
        <p:nvSpPr>
          <p:cNvPr id="20" name="Google Shape;2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(~30 s) Existe um público grande e crescente preocupado com bem-estar e com o que come. E hoje o iFood não tem nenhuma feature pensada especificamente para esse público. É essa lacuna que queremos ocupar.</a:t>
            </a:r>
            <a:endParaRPr/>
          </a:p>
        </p:txBody>
      </p:sp>
      <p:sp>
        <p:nvSpPr>
          <p:cNvPr id="30" name="Google Shape;3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 name="Google Shape;3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(~60 s) Nossa proposta é introduzir mais o iFood no universo fitness com duas peças. Primeiro, uma feature que estima o valor nutricional de refeições e pedidos, incluindo proteínas, lipídeos e carboidratos. Segundo, um chatbot que auxilia o usuário a fazer pedidos e a filtrá-los de acordo com o valor nutricional.</a:t>
            </a:r>
            <a:endParaRPr/>
          </a:p>
        </p:txBody>
      </p:sp>
      <p:sp>
        <p:nvSpPr>
          <p:cNvPr id="38" name="Google Shape;3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(~75 s) Este é o fluxo da nossa demonstração, que é um piloto. O cliente pode pedir ao assistente o alimento que busca ou seguir o fluxo de compra padrão. Quando um produto é selecionado e não há requisitos obrigatórios a preencher — como sabor ou tamanho da porção —, o cálculo começa com uma chamada ao modelo de previsão. Ao final, a estimativa é exibida junto com uma explicação dos cálculos feita pelo modelo. Quando não é possível determinar o valor com boa margem de confiança, o modelo não exibe os valores e fornece uma justificativa.</a:t>
            </a:r>
            <a:endParaRPr/>
          </a:p>
        </p:txBody>
      </p:sp>
      <p:sp>
        <p:nvSpPr>
          <p:cNvPr id="59" name="Google Shape;5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(~25 s) Outras soluções desse tipo, como o MyFitnessPal, têm um problema de precisão: grande parte da base é cadastrada pelos próprios usuários, então o mesmo alimento pode aparecer com valores diferentes, e é o usuário quem precisa escolher a entrada certa e informar a porção. Por isso adotamos abordagens diferentes, que vamos mostrar nos próximos slides.</a:t>
            </a:r>
            <a:endParaRPr/>
          </a:p>
        </p:txBody>
      </p:sp>
      <p:sp>
        <p:nvSpPr>
          <p:cNvPr id="89" name="Google Shape;8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h1e918fe9f13658b9_0_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 name="Google Shape;104;h1e918fe9f13658b9_0_3:notes"/>
          <p:cNvSpPr txBox="1"/>
          <p:nvPr>
            <p:ph idx="1" type="body"/>
          </p:nvPr>
        </p:nvSpPr>
        <p:spPr>
          <a:xfrm>
            <a:off x="0" y="0"/>
            <a:ext cx="3000000" cy="3999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Fonte: diagrama horizontal fornecido na conversa sobre a pipeline nutricional do Macro. O fluxo é uma visão resumida. Texto e foto dependem da disponibilidade de imagem e provedor. Bases e web podem produzir fontes conhecidas, enquanto as estimativas e o cálculo por ingredientes alimentam o consenso. O código pode priorizar a pesquisa oficial para produtos industrializados. O resultado final considera porção e complementos e pode ficar indisponível quando faltam dados. Referências do projeto: app/services/nutrition/pipeline.py, app/services/nutrition/service.py, app/services/nutrition/etapas/estimar.py, app/services/nutrition/etapas/consenso.py e app/services/nutrition/etapas/validar.py.</a:t>
            </a:r>
            <a:endParaRPr/>
          </a:p>
        </p:txBody>
      </p:sp>
      <p:sp>
        <p:nvSpPr>
          <p:cNvPr id="105" name="Google Shape;105;h1e918fe9f13658b9_0_3:notes"/>
          <p:cNvSpPr txBox="1"/>
          <p:nvPr>
            <p:ph idx="12" type="sldNum"/>
          </p:nvPr>
        </p:nvSpPr>
        <p:spPr>
          <a:xfrm>
            <a:off x="0" y="0"/>
            <a:ext cx="3000000" cy="3999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(~35 s) Cada cálculo passa automaticamente por cinco checagens de consistência no validar.py, e o resultado delas alimenta a pontuação de confiança. As calorias precisam ficar entre 20 e 3.500 kcal. A regra de Atwater — 4 vezes a proteína, mais 4 vezes o carboidrato, mais 9 vezes a gordura — precisa dar perto das calorias. A soma dos macros não pode passar do peso do prato. Medimos a dispersão entre as estimativas, que é o maior menos o menor dividido pela mediana. E comparamos a fonte publicada com a estimativa.</a:t>
            </a:r>
            <a:endParaRPr/>
          </a:p>
        </p:txBody>
      </p:sp>
      <p:sp>
        <p:nvSpPr>
          <p:cNvPr id="166" name="Google Shape;16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h1e918fe9f13658b9_0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h1e918fe9f13658b9_0_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(~35 s) Cada cálculo passa automaticamente por cinco checagens de consistência no validar.py, e o resultado delas alimenta a pontuação de confiança. As calorias precisam ficar entre 20 e 3.500 kcal. A regra de Atwater — 4 vezes a proteína, mais 4 vezes o carboidrato, mais 9 vezes a gordura — precisa dar perto das calorias. A soma dos macros não pode passar do peso do prato. Medimos a dispersão entre as estimativas, que é o maior menos o menor dividido pela mediana. E comparamos a fonte publicada com a estimativa.</a:t>
            </a:r>
            <a:endParaRPr/>
          </a:p>
        </p:txBody>
      </p:sp>
      <p:sp>
        <p:nvSpPr>
          <p:cNvPr id="194" name="Google Shape;194;h1e918fe9f13658b9_0_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(~40 s) Não temos acesso aos números internos do iFood, então não vamos afirmar uma perda de vendas. O que trazemos são hipóteses de como a feature gera valor — conversão, frequência, retenção e novos parceiros — e o teste que comprovaria isso: um piloto com teste A/B, acompanhando conversão, frequência de pedidos, uso da feature e quantas vezes o modelo se recusa a estimar.</a:t>
            </a:r>
            <a:endParaRPr/>
          </a:p>
        </p:txBody>
      </p:sp>
      <p:sp>
        <p:nvSpPr>
          <p:cNvPr id="208" name="Google Shape;20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(~30 s) Sabemos onde estão os limites. Ainda não temos gabarito, então não medimos o erro real. Coerência não é acerto: modelos podem concordar no mesmo valor errado. Margens e pesos são heurísticas definidas à mão. Fazemos muitas chamadas por item, o que sobrecarrega o sistema. Dependendo da foto, a IA não consegue estimar o peso do prato. E fotos geradas por IA são imprecisas para o modelo prever.</a:t>
            </a:r>
            <a:endParaRPr/>
          </a:p>
        </p:txBody>
      </p:sp>
      <p:sp>
        <p:nvSpPr>
          <p:cNvPr id="226" name="Google Shape;22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(~40 s) Como próximos passos: primeiro, no produto real, o resultado de cada previsão será armazenado em um banco de dados, então produtos já estimados não precisam passar pelo pipeline de novo, poupando computação e tempo de espera. Na demonstração isso ainda não acontece porque se trata de um piloto. Segundo, vamos usar OCR para identificar os valores nutricionais de produtos similares. Terceiro, vamos incluir uma avaliação do pedido feita por voz, que o usuário pode responder. E por fim, o restaurante poderá recusar esse serviço, receber antes o valor que será exibido com a explicação do cálculo, ou informar os valores manualmente, que serão revisados pelo classificador.</a:t>
            </a:r>
            <a:endParaRPr/>
          </a:p>
        </p:txBody>
      </p:sp>
      <p:sp>
        <p:nvSpPr>
          <p:cNvPr id="248" name="Google Shape;24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(~30 s) Recapitular: a lacuna no iFood, nossa proposta e a transparência sobre como a previsão é avaliada hoje. Agradecer e abrir para perguntas.</a:t>
            </a:r>
            <a:endParaRPr/>
          </a:p>
        </p:txBody>
      </p:sp>
      <p:sp>
        <p:nvSpPr>
          <p:cNvPr id="272" name="Google Shape;27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AF6F1"/>
        </a:solidFill>
      </p:bgPr>
    </p:bg>
    <p:spTree>
      <p:nvGrpSpPr>
        <p:cNvPr id="12" name="Shape 12"/>
        <p:cNvGrpSpPr/>
        <p:nvPr/>
      </p:nvGrpSpPr>
      <p:grpSpPr>
        <a:xfrm>
          <a:off x="0" y="0"/>
          <a:ext cx="0" cy="0"/>
          <a:chOff x="0" y="0"/>
          <a:chExt cx="0" cy="0"/>
        </a:xfrm>
      </p:grpSpPr>
      <p:sp>
        <p:nvSpPr>
          <p:cNvPr id="13" name="Google Shape;13;p13"/>
          <p:cNvSpPr txBox="1"/>
          <p:nvPr>
            <p:ph type="title"/>
          </p:nvPr>
        </p:nvSpPr>
        <p:spPr>
          <a:xfrm>
            <a:off x="812782" y="1127754"/>
            <a:ext cx="10566436" cy="46732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1E1A1B"/>
              </a:buClr>
              <a:buSzPts val="3200"/>
              <a:buFont typeface="Rubik"/>
              <a:buNone/>
              <a:defRPr sz="3200">
                <a:solidFill>
                  <a:srgbClr val="1E1A1B"/>
                </a:solidFill>
                <a:latin typeface="Rubik"/>
                <a:ea typeface="Rubik"/>
                <a:cs typeface="Rubik"/>
                <a:sym typeface="Rubi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13"/>
          <p:cNvSpPr txBox="1"/>
          <p:nvPr>
            <p:ph idx="1" type="body"/>
          </p:nvPr>
        </p:nvSpPr>
        <p:spPr>
          <a:xfrm>
            <a:off x="812782" y="1899875"/>
            <a:ext cx="10566418" cy="4145325"/>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1E1A1B"/>
              </a:buClr>
              <a:buSzPts val="1600"/>
              <a:buNone/>
              <a:defRPr sz="1600">
                <a:solidFill>
                  <a:srgbClr val="1E1A1B"/>
                </a:solidFill>
                <a:latin typeface="DM Sans"/>
                <a:ea typeface="DM Sans"/>
                <a:cs typeface="DM Sans"/>
                <a:sym typeface="DM Sans"/>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 name="Shape 1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6F1"/>
        </a:solidFill>
      </p:bgPr>
    </p:bg>
    <p:spTree>
      <p:nvGrpSpPr>
        <p:cNvPr id="9" name="Shape 9"/>
        <p:cNvGrpSpPr/>
        <p:nvPr/>
      </p:nvGrpSpPr>
      <p:grpSpPr>
        <a:xfrm>
          <a:off x="0" y="0"/>
          <a:ext cx="0" cy="0"/>
          <a:chOff x="0" y="0"/>
          <a:chExt cx="0" cy="0"/>
        </a:xfrm>
      </p:grpSpPr>
      <p:sp>
        <p:nvSpPr>
          <p:cNvPr id="10" name="Google Shape;10;p12"/>
          <p:cNvSpPr txBox="1"/>
          <p:nvPr>
            <p:ph type="title"/>
          </p:nvPr>
        </p:nvSpPr>
        <p:spPr>
          <a:xfrm>
            <a:off x="812782" y="1127754"/>
            <a:ext cx="10566436" cy="46732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1E1A1B"/>
              </a:buClr>
              <a:buSzPts val="3200"/>
              <a:buFont typeface="Rubik"/>
              <a:buNone/>
              <a:defRPr b="0" i="0" sz="3200" u="none" cap="none" strike="noStrike">
                <a:solidFill>
                  <a:srgbClr val="1E1A1B"/>
                </a:solidFill>
                <a:latin typeface="Rubik"/>
                <a:ea typeface="Rubik"/>
                <a:cs typeface="Rubik"/>
                <a:sym typeface="Rubi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2"/>
          <p:cNvSpPr txBox="1"/>
          <p:nvPr>
            <p:ph idx="1" type="body"/>
          </p:nvPr>
        </p:nvSpPr>
        <p:spPr>
          <a:xfrm>
            <a:off x="812782" y="1899875"/>
            <a:ext cx="10566418" cy="4145325"/>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1E1A1B"/>
              </a:buClr>
              <a:buSzPts val="1600"/>
              <a:buFont typeface="Arial"/>
              <a:buNone/>
              <a:defRPr b="0" i="0" sz="1600" u="none" cap="none" strike="noStrike">
                <a:solidFill>
                  <a:srgbClr val="1E1A1B"/>
                </a:solidFill>
                <a:latin typeface="DM Sans"/>
                <a:ea typeface="DM Sans"/>
                <a:cs typeface="DM Sans"/>
                <a:sym typeface="DM Sans"/>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DM Sans"/>
                <a:ea typeface="DM Sans"/>
                <a:cs typeface="DM Sans"/>
                <a:sym typeface="DM Sans"/>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DM Sans"/>
                <a:ea typeface="DM Sans"/>
                <a:cs typeface="DM Sans"/>
                <a:sym typeface="DM Sans"/>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A1B"/>
        </a:solidFill>
      </p:bgPr>
    </p:bg>
    <p:spTree>
      <p:nvGrpSpPr>
        <p:cNvPr id="21" name="Shape 21"/>
        <p:cNvGrpSpPr/>
        <p:nvPr/>
      </p:nvGrpSpPr>
      <p:grpSpPr>
        <a:xfrm>
          <a:off x="0" y="0"/>
          <a:ext cx="0" cy="0"/>
          <a:chOff x="0" y="0"/>
          <a:chExt cx="0" cy="0"/>
        </a:xfrm>
      </p:grpSpPr>
      <p:sp>
        <p:nvSpPr>
          <p:cNvPr id="22" name="Google Shape;22;p1"/>
          <p:cNvSpPr/>
          <p:nvPr/>
        </p:nvSpPr>
        <p:spPr>
          <a:xfrm>
            <a:off x="0" y="0"/>
            <a:ext cx="152346" cy="6858000"/>
          </a:xfrm>
          <a:prstGeom prst="rect">
            <a:avLst/>
          </a:prstGeom>
          <a:solidFill>
            <a:srgbClr val="E538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1"/>
          <p:cNvSpPr/>
          <p:nvPr/>
        </p:nvSpPr>
        <p:spPr>
          <a:xfrm>
            <a:off x="812782" y="812782"/>
            <a:ext cx="10883429" cy="23881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7A7C"/>
              </a:buClr>
              <a:buSzPts val="1200"/>
              <a:buFont typeface="DM Sans"/>
              <a:buNone/>
            </a:pPr>
            <a:r>
              <a:rPr b="1" i="0" lang="en-US" sz="1200" u="none" cap="none" strike="noStrike">
                <a:solidFill>
                  <a:srgbClr val="FF7A7C"/>
                </a:solidFill>
                <a:latin typeface="DM Sans"/>
                <a:ea typeface="DM Sans"/>
                <a:cs typeface="DM Sans"/>
                <a:sym typeface="DM Sans"/>
              </a:rPr>
              <a:t>PITCH · IFOOD BENEFÍCIOS</a:t>
            </a:r>
            <a:endParaRPr b="0" i="0" sz="1200" u="none" cap="none" strike="noStrike">
              <a:solidFill>
                <a:schemeClr val="dk1"/>
              </a:solidFill>
              <a:latin typeface="DM Sans"/>
              <a:ea typeface="DM Sans"/>
              <a:cs typeface="DM Sans"/>
              <a:sym typeface="DM Sans"/>
            </a:endParaRPr>
          </a:p>
        </p:txBody>
      </p:sp>
      <p:sp>
        <p:nvSpPr>
          <p:cNvPr id="24" name="Google Shape;24;p1"/>
          <p:cNvSpPr txBox="1"/>
          <p:nvPr>
            <p:ph type="title"/>
          </p:nvPr>
        </p:nvSpPr>
        <p:spPr>
          <a:xfrm>
            <a:off x="812782" y="2291141"/>
            <a:ext cx="10883429" cy="772156"/>
          </a:xfrm>
          <a:prstGeom prst="rect">
            <a:avLst/>
          </a:prstGeom>
          <a:noFill/>
          <a:ln>
            <a:noFill/>
          </a:ln>
        </p:spPr>
        <p:txBody>
          <a:bodyPr anchorCtr="0" anchor="t" bIns="0" lIns="0" spcFirstLastPara="1" rIns="0" wrap="square" tIns="0">
            <a:normAutofit/>
          </a:bodyPr>
          <a:lstStyle/>
          <a:p>
            <a:pPr indent="0" lvl="0" marL="0" rtl="0" algn="l">
              <a:lnSpc>
                <a:spcPct val="104999"/>
              </a:lnSpc>
              <a:spcBef>
                <a:spcPts val="0"/>
              </a:spcBef>
              <a:spcAft>
                <a:spcPts val="0"/>
              </a:spcAft>
              <a:buClr>
                <a:srgbClr val="FAF6F1"/>
              </a:buClr>
              <a:buSzPts val="5600"/>
              <a:buFont typeface="Rubik"/>
              <a:buNone/>
            </a:pPr>
            <a:r>
              <a:rPr b="1" i="0" lang="en-US" sz="5600">
                <a:solidFill>
                  <a:srgbClr val="FAF6F1"/>
                </a:solidFill>
                <a:latin typeface="Rubik"/>
                <a:ea typeface="Rubik"/>
                <a:cs typeface="Rubik"/>
                <a:sym typeface="Rubik"/>
              </a:rPr>
              <a:t>Nutrição no iFood</a:t>
            </a:r>
            <a:endParaRPr sz="5600"/>
          </a:p>
        </p:txBody>
      </p:sp>
      <p:sp>
        <p:nvSpPr>
          <p:cNvPr id="25" name="Google Shape;25;p1"/>
          <p:cNvSpPr/>
          <p:nvPr/>
        </p:nvSpPr>
        <p:spPr>
          <a:xfrm>
            <a:off x="812782" y="3241025"/>
            <a:ext cx="7848600" cy="711092"/>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CFC6C2"/>
              </a:buClr>
              <a:buSzPts val="2000"/>
              <a:buFont typeface="DM Sans"/>
              <a:buNone/>
            </a:pPr>
            <a:r>
              <a:rPr b="0" i="0" lang="en-US" sz="2000" u="none" cap="none" strike="noStrike">
                <a:solidFill>
                  <a:srgbClr val="CFC6C2"/>
                </a:solidFill>
                <a:latin typeface="DM Sans"/>
                <a:ea typeface="DM Sans"/>
                <a:cs typeface="DM Sans"/>
                <a:sym typeface="DM Sans"/>
              </a:rPr>
              <a:t>Estimativa nutricional dos pedidos e um assistente para pedir com mais consciência</a:t>
            </a:r>
            <a:endParaRPr b="0" i="0" sz="2000" u="none" cap="none" strike="noStrike">
              <a:solidFill>
                <a:schemeClr val="dk1"/>
              </a:solidFill>
              <a:latin typeface="DM Sans"/>
              <a:ea typeface="DM Sans"/>
              <a:cs typeface="DM Sans"/>
              <a:sym typeface="DM Sans"/>
            </a:endParaRPr>
          </a:p>
        </p:txBody>
      </p:sp>
      <p:sp>
        <p:nvSpPr>
          <p:cNvPr id="26" name="Google Shape;26;p1"/>
          <p:cNvSpPr/>
          <p:nvPr/>
        </p:nvSpPr>
        <p:spPr>
          <a:xfrm>
            <a:off x="812782" y="5191576"/>
            <a:ext cx="10883429" cy="87904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79C98"/>
              </a:buClr>
              <a:buSzPts val="1200"/>
              <a:buFont typeface="DM Sans"/>
              <a:buNone/>
            </a:pPr>
            <a:r>
              <a:rPr b="0" i="0" lang="en-US" sz="1200" u="none" cap="none" strike="noStrike">
                <a:solidFill>
                  <a:srgbClr val="A79C98"/>
                </a:solidFill>
                <a:latin typeface="DM Sans"/>
                <a:ea typeface="DM Sans"/>
                <a:cs typeface="DM Sans"/>
                <a:sym typeface="DM Sans"/>
              </a:rPr>
              <a:t>Heitor Gomes de Oliveira</a:t>
            </a:r>
            <a:endParaRPr b="0" i="0" sz="1200" u="none" cap="none" strike="noStrike">
              <a:solidFill>
                <a:schemeClr val="dk1"/>
              </a:solidFill>
              <a:latin typeface="DM Sans"/>
              <a:ea typeface="DM Sans"/>
              <a:cs typeface="DM Sans"/>
              <a:sym typeface="DM Sans"/>
            </a:endParaRPr>
          </a:p>
          <a:p>
            <a:pPr indent="0" lvl="0" marL="0" marR="0" rtl="0" algn="l">
              <a:lnSpc>
                <a:spcPct val="140000"/>
              </a:lnSpc>
              <a:spcBef>
                <a:spcPts val="0"/>
              </a:spcBef>
              <a:spcAft>
                <a:spcPts val="0"/>
              </a:spcAft>
              <a:buClr>
                <a:srgbClr val="A79C98"/>
              </a:buClr>
              <a:buSzPts val="1200"/>
              <a:buFont typeface="DM Sans"/>
              <a:buNone/>
            </a:pPr>
            <a:r>
              <a:rPr b="0" i="0" lang="en-US" sz="1200" u="none" cap="none" strike="noStrike">
                <a:solidFill>
                  <a:srgbClr val="A79C98"/>
                </a:solidFill>
                <a:latin typeface="DM Sans"/>
                <a:ea typeface="DM Sans"/>
                <a:cs typeface="DM Sans"/>
                <a:sym typeface="DM Sans"/>
              </a:rPr>
              <a:t>Newton Eduardo Pena Villegas</a:t>
            </a:r>
            <a:endParaRPr b="0" i="0" sz="1200" u="none" cap="none" strike="noStrike">
              <a:solidFill>
                <a:schemeClr val="dk1"/>
              </a:solidFill>
              <a:latin typeface="DM Sans"/>
              <a:ea typeface="DM Sans"/>
              <a:cs typeface="DM Sans"/>
              <a:sym typeface="DM Sans"/>
            </a:endParaRPr>
          </a:p>
          <a:p>
            <a:pPr indent="0" lvl="0" marL="0" marR="0" rtl="0" algn="l">
              <a:lnSpc>
                <a:spcPct val="140000"/>
              </a:lnSpc>
              <a:spcBef>
                <a:spcPts val="0"/>
              </a:spcBef>
              <a:spcAft>
                <a:spcPts val="0"/>
              </a:spcAft>
              <a:buClr>
                <a:srgbClr val="A79C98"/>
              </a:buClr>
              <a:buSzPts val="1200"/>
              <a:buFont typeface="DM Sans"/>
              <a:buNone/>
            </a:pPr>
            <a:r>
              <a:rPr b="0" i="0" lang="en-US" sz="1200" u="none" cap="none" strike="noStrike">
                <a:solidFill>
                  <a:srgbClr val="A79C98"/>
                </a:solidFill>
                <a:latin typeface="DM Sans"/>
                <a:ea typeface="DM Sans"/>
                <a:cs typeface="DM Sans"/>
                <a:sym typeface="DM Sans"/>
              </a:rPr>
              <a:t>Artur Kenzo Obara Kawazowe</a:t>
            </a:r>
            <a:endParaRPr b="0" i="0" sz="1200" u="none" cap="none" strike="noStrike">
              <a:solidFill>
                <a:schemeClr val="dk1"/>
              </a:solidFill>
              <a:latin typeface="DM Sans"/>
              <a:ea typeface="DM Sans"/>
              <a:cs typeface="DM Sans"/>
              <a:sym typeface="DM Sans"/>
            </a:endParaRPr>
          </a:p>
          <a:p>
            <a:pPr indent="0" lvl="0" marL="0" marR="0" rtl="0" algn="l">
              <a:lnSpc>
                <a:spcPct val="140000"/>
              </a:lnSpc>
              <a:spcBef>
                <a:spcPts val="0"/>
              </a:spcBef>
              <a:spcAft>
                <a:spcPts val="0"/>
              </a:spcAft>
              <a:buClr>
                <a:srgbClr val="A79C98"/>
              </a:buClr>
              <a:buSzPts val="1200"/>
              <a:buFont typeface="DM Sans"/>
              <a:buNone/>
            </a:pPr>
            <a:r>
              <a:rPr b="0" i="0" lang="en-US" sz="1200" u="none" cap="none" strike="noStrike">
                <a:solidFill>
                  <a:srgbClr val="A79C98"/>
                </a:solidFill>
                <a:latin typeface="DM Sans"/>
                <a:ea typeface="DM Sans"/>
                <a:cs typeface="DM Sans"/>
                <a:sym typeface="DM Sans"/>
              </a:rPr>
              <a:t>Daniel Jorge Manzano</a:t>
            </a:r>
            <a:endParaRPr b="0" i="0" sz="1200" u="none" cap="none" strike="noStrike">
              <a:solidFill>
                <a:schemeClr val="dk1"/>
              </a:solidFill>
              <a:latin typeface="DM Sans"/>
              <a:ea typeface="DM Sans"/>
              <a:cs typeface="DM Sans"/>
              <a:sym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8202F"/>
        </a:solidFill>
      </p:bgPr>
    </p:bg>
    <p:spTree>
      <p:nvGrpSpPr>
        <p:cNvPr id="31" name="Shape 31"/>
        <p:cNvGrpSpPr/>
        <p:nvPr/>
      </p:nvGrpSpPr>
      <p:grpSpPr>
        <a:xfrm>
          <a:off x="0" y="0"/>
          <a:ext cx="0" cy="0"/>
          <a:chOff x="0" y="0"/>
          <a:chExt cx="0" cy="0"/>
        </a:xfrm>
      </p:grpSpPr>
      <p:sp>
        <p:nvSpPr>
          <p:cNvPr id="32" name="Google Shape;32;p2"/>
          <p:cNvSpPr/>
          <p:nvPr/>
        </p:nvSpPr>
        <p:spPr>
          <a:xfrm>
            <a:off x="812782" y="2260023"/>
            <a:ext cx="10883429" cy="23881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D9D6"/>
              </a:buClr>
              <a:buSzPts val="1200"/>
              <a:buFont typeface="DM Sans"/>
              <a:buNone/>
            </a:pPr>
            <a:r>
              <a:rPr b="1" i="0" lang="en-US" sz="1200" u="none" cap="none" strike="noStrike">
                <a:solidFill>
                  <a:srgbClr val="FFD9D6"/>
                </a:solidFill>
                <a:latin typeface="DM Sans"/>
                <a:ea typeface="DM Sans"/>
                <a:cs typeface="DM Sans"/>
                <a:sym typeface="DM Sans"/>
              </a:rPr>
              <a:t>A LACUNA</a:t>
            </a:r>
            <a:endParaRPr b="0" i="0" sz="1200" u="none" cap="none" strike="noStrike">
              <a:solidFill>
                <a:schemeClr val="dk1"/>
              </a:solidFill>
              <a:latin typeface="DM Sans"/>
              <a:ea typeface="DM Sans"/>
              <a:cs typeface="DM Sans"/>
              <a:sym typeface="DM Sans"/>
            </a:endParaRPr>
          </a:p>
        </p:txBody>
      </p:sp>
      <p:sp>
        <p:nvSpPr>
          <p:cNvPr id="33" name="Google Shape;33;p2"/>
          <p:cNvSpPr txBox="1"/>
          <p:nvPr>
            <p:ph type="title"/>
          </p:nvPr>
        </p:nvSpPr>
        <p:spPr>
          <a:xfrm>
            <a:off x="812782" y="2778215"/>
            <a:ext cx="9810750" cy="1163168"/>
          </a:xfrm>
          <a:prstGeom prst="rect">
            <a:avLst/>
          </a:prstGeom>
          <a:noFill/>
          <a:ln>
            <a:noFill/>
          </a:ln>
        </p:spPr>
        <p:txBody>
          <a:bodyPr anchorCtr="0" anchor="t" bIns="0" lIns="0" spcFirstLastPara="1" rIns="0" wrap="square" tIns="0">
            <a:normAutofit/>
          </a:bodyPr>
          <a:lstStyle/>
          <a:p>
            <a:pPr indent="0" lvl="0" marL="0" rtl="0" algn="l">
              <a:lnSpc>
                <a:spcPct val="112000"/>
              </a:lnSpc>
              <a:spcBef>
                <a:spcPts val="0"/>
              </a:spcBef>
              <a:spcAft>
                <a:spcPts val="0"/>
              </a:spcAft>
              <a:buClr>
                <a:srgbClr val="FFF6F2"/>
              </a:buClr>
              <a:buSzPts val="4000"/>
              <a:buFont typeface="Rubik"/>
              <a:buNone/>
            </a:pPr>
            <a:r>
              <a:rPr b="1" i="0" lang="en-US" sz="4000">
                <a:solidFill>
                  <a:srgbClr val="FFF6F2"/>
                </a:solidFill>
                <a:latin typeface="Rubik"/>
                <a:ea typeface="Rubik"/>
                <a:cs typeface="Rubik"/>
                <a:sym typeface="Rubik"/>
              </a:rPr>
              <a:t>Existe um público grande e crescente preocupado com o que come.</a:t>
            </a:r>
            <a:endParaRPr sz="4000"/>
          </a:p>
        </p:txBody>
      </p:sp>
      <p:sp>
        <p:nvSpPr>
          <p:cNvPr id="34" name="Google Shape;34;p2"/>
          <p:cNvSpPr/>
          <p:nvPr/>
        </p:nvSpPr>
        <p:spPr>
          <a:xfrm>
            <a:off x="812782" y="4220765"/>
            <a:ext cx="10668000" cy="402612"/>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FFE7E3"/>
              </a:buClr>
              <a:buSzPts val="2200"/>
              <a:buFont typeface="DM Sans"/>
              <a:buNone/>
            </a:pPr>
            <a:r>
              <a:rPr b="0" i="0" lang="en-US" sz="2200" u="none" cap="none" strike="noStrike">
                <a:solidFill>
                  <a:srgbClr val="FFE7E3"/>
                </a:solidFill>
                <a:latin typeface="DM Sans"/>
                <a:ea typeface="DM Sans"/>
                <a:cs typeface="DM Sans"/>
                <a:sym typeface="DM Sans"/>
              </a:rPr>
              <a:t>E hoje o iFood não oferece algo pensado especificamente para ele.</a:t>
            </a:r>
            <a:endParaRPr b="0" i="0" sz="2200" u="none" cap="none" strike="noStrike">
              <a:solidFill>
                <a:schemeClr val="dk1"/>
              </a:solidFill>
              <a:latin typeface="DM Sans"/>
              <a:ea typeface="DM Sans"/>
              <a:cs typeface="DM Sans"/>
              <a:sym typeface="DM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6F1"/>
        </a:solidFill>
      </p:bgPr>
    </p:bg>
    <p:spTree>
      <p:nvGrpSpPr>
        <p:cNvPr id="39" name="Shape 39"/>
        <p:cNvGrpSpPr/>
        <p:nvPr/>
      </p:nvGrpSpPr>
      <p:grpSpPr>
        <a:xfrm>
          <a:off x="0" y="0"/>
          <a:ext cx="0" cy="0"/>
          <a:chOff x="0" y="0"/>
          <a:chExt cx="0" cy="0"/>
        </a:xfrm>
      </p:grpSpPr>
      <p:sp>
        <p:nvSpPr>
          <p:cNvPr id="40" name="Google Shape;40;p3"/>
          <p:cNvSpPr/>
          <p:nvPr/>
        </p:nvSpPr>
        <p:spPr>
          <a:xfrm>
            <a:off x="812782" y="812781"/>
            <a:ext cx="10883429" cy="23881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8202F"/>
              </a:buClr>
              <a:buSzPts val="1200"/>
              <a:buFont typeface="DM Sans"/>
              <a:buNone/>
            </a:pPr>
            <a:r>
              <a:rPr b="1" i="0" lang="en-US" sz="1200" u="none" cap="none" strike="noStrike">
                <a:solidFill>
                  <a:srgbClr val="C8202F"/>
                </a:solidFill>
                <a:latin typeface="DM Sans"/>
                <a:ea typeface="DM Sans"/>
                <a:cs typeface="DM Sans"/>
                <a:sym typeface="DM Sans"/>
              </a:rPr>
              <a:t>A PROPOSTA - MACRO</a:t>
            </a:r>
            <a:endParaRPr b="0" i="0" sz="1200" u="none" cap="none" strike="noStrike">
              <a:solidFill>
                <a:schemeClr val="dk1"/>
              </a:solidFill>
              <a:latin typeface="DM Sans"/>
              <a:ea typeface="DM Sans"/>
              <a:cs typeface="DM Sans"/>
              <a:sym typeface="DM Sans"/>
            </a:endParaRPr>
          </a:p>
        </p:txBody>
      </p:sp>
      <p:sp>
        <p:nvSpPr>
          <p:cNvPr id="41" name="Google Shape;41;p3"/>
          <p:cNvSpPr txBox="1"/>
          <p:nvPr>
            <p:ph type="title"/>
          </p:nvPr>
        </p:nvSpPr>
        <p:spPr>
          <a:xfrm>
            <a:off x="812782" y="1127756"/>
            <a:ext cx="10883429" cy="49272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1E1A1B"/>
              </a:buClr>
              <a:buSzPts val="3200"/>
              <a:buFont typeface="Rubik"/>
              <a:buNone/>
            </a:pPr>
            <a:r>
              <a:rPr b="1" i="0" lang="en-US" sz="3200">
                <a:solidFill>
                  <a:srgbClr val="1E1A1B"/>
                </a:solidFill>
                <a:latin typeface="Rubik"/>
                <a:ea typeface="Rubik"/>
                <a:cs typeface="Rubik"/>
                <a:sym typeface="Rubik"/>
              </a:rPr>
              <a:t>Levar o iFood para o universo fitness</a:t>
            </a:r>
            <a:endParaRPr sz="3200"/>
          </a:p>
        </p:txBody>
      </p:sp>
      <p:sp>
        <p:nvSpPr>
          <p:cNvPr id="42" name="Google Shape;42;p3"/>
          <p:cNvSpPr/>
          <p:nvPr/>
        </p:nvSpPr>
        <p:spPr>
          <a:xfrm>
            <a:off x="815957" y="1953816"/>
            <a:ext cx="5175304" cy="4088227"/>
          </a:xfrm>
          <a:prstGeom prst="roundRect">
            <a:avLst>
              <a:gd fmla="val 3650" name="adj"/>
            </a:avLst>
          </a:prstGeom>
          <a:solidFill>
            <a:srgbClr val="FFFFFF"/>
          </a:solidFill>
          <a:ln cap="flat" cmpd="sng" w="9525">
            <a:solidFill>
              <a:srgbClr val="E8DF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ctivity" id="43" name="Google Shape;43;p3"/>
          <p:cNvPicPr preferRelativeResize="0"/>
          <p:nvPr/>
        </p:nvPicPr>
        <p:blipFill rotWithShape="1">
          <a:blip r:embed="rId3">
            <a:alphaModFix/>
          </a:blip>
          <a:srcRect b="0" l="0" r="0" t="0"/>
          <a:stretch/>
        </p:blipFill>
        <p:spPr>
          <a:xfrm>
            <a:off x="1174119" y="2311977"/>
            <a:ext cx="406346" cy="406346"/>
          </a:xfrm>
          <a:prstGeom prst="rect">
            <a:avLst/>
          </a:prstGeom>
          <a:noFill/>
          <a:ln>
            <a:noFill/>
          </a:ln>
        </p:spPr>
      </p:pic>
      <p:sp>
        <p:nvSpPr>
          <p:cNvPr id="44" name="Google Shape;44;p3"/>
          <p:cNvSpPr/>
          <p:nvPr/>
        </p:nvSpPr>
        <p:spPr>
          <a:xfrm>
            <a:off x="1174119" y="2896104"/>
            <a:ext cx="4592750" cy="360669"/>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E1A1B"/>
              </a:buClr>
              <a:buSzPts val="2200"/>
              <a:buFont typeface="Rubik"/>
              <a:buNone/>
            </a:pPr>
            <a:r>
              <a:rPr b="1" i="0" lang="en-US" sz="2200" u="none" cap="none" strike="noStrike">
                <a:solidFill>
                  <a:srgbClr val="1E1A1B"/>
                </a:solidFill>
                <a:latin typeface="Rubik"/>
                <a:ea typeface="Rubik"/>
                <a:cs typeface="Rubik"/>
                <a:sym typeface="Rubik"/>
              </a:rPr>
              <a:t>Estimativa nutricional</a:t>
            </a:r>
            <a:endParaRPr b="0" i="0" sz="2200" u="none" cap="none" strike="noStrike">
              <a:solidFill>
                <a:schemeClr val="dk1"/>
              </a:solidFill>
              <a:latin typeface="DM Sans"/>
              <a:ea typeface="DM Sans"/>
              <a:cs typeface="DM Sans"/>
              <a:sym typeface="DM Sans"/>
            </a:endParaRPr>
          </a:p>
        </p:txBody>
      </p:sp>
      <p:sp>
        <p:nvSpPr>
          <p:cNvPr id="45" name="Google Shape;45;p3"/>
          <p:cNvSpPr/>
          <p:nvPr/>
        </p:nvSpPr>
        <p:spPr>
          <a:xfrm>
            <a:off x="1174119" y="3409156"/>
            <a:ext cx="4592750" cy="558656"/>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F4648"/>
              </a:buClr>
              <a:buSzPts val="1500"/>
              <a:buFont typeface="DM Sans"/>
              <a:buNone/>
            </a:pPr>
            <a:r>
              <a:rPr b="0" i="0" lang="en-US" sz="1500" u="none" cap="none" strike="noStrike">
                <a:solidFill>
                  <a:srgbClr val="4F4648"/>
                </a:solidFill>
                <a:latin typeface="DM Sans"/>
                <a:ea typeface="DM Sans"/>
                <a:cs typeface="DM Sans"/>
                <a:sym typeface="DM Sans"/>
              </a:rPr>
              <a:t>Estima o valor nutricional de cada prato ou pedido, direto no app.</a:t>
            </a:r>
            <a:endParaRPr b="0" i="0" sz="1500" u="none" cap="none" strike="noStrike">
              <a:solidFill>
                <a:schemeClr val="dk1"/>
              </a:solidFill>
              <a:latin typeface="DM Sans"/>
              <a:ea typeface="DM Sans"/>
              <a:cs typeface="DM Sans"/>
              <a:sym typeface="DM Sans"/>
            </a:endParaRPr>
          </a:p>
        </p:txBody>
      </p:sp>
      <p:sp>
        <p:nvSpPr>
          <p:cNvPr id="46" name="Google Shape;46;p3"/>
          <p:cNvSpPr/>
          <p:nvPr/>
        </p:nvSpPr>
        <p:spPr>
          <a:xfrm>
            <a:off x="1174119" y="4120193"/>
            <a:ext cx="1455449" cy="340410"/>
          </a:xfrm>
          <a:prstGeom prst="roundRect">
            <a:avLst>
              <a:gd fmla="val 50000" name="adj"/>
            </a:avLst>
          </a:prstGeom>
          <a:solidFill>
            <a:srgbClr val="FBE3E1"/>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8E1621"/>
              </a:buClr>
              <a:buSzPts val="1200"/>
              <a:buFont typeface="DM Sans"/>
              <a:buNone/>
            </a:pPr>
            <a:r>
              <a:rPr b="0" i="0" lang="en-US" sz="1200" u="none" cap="none" strike="noStrike">
                <a:solidFill>
                  <a:srgbClr val="8E1621"/>
                </a:solidFill>
                <a:latin typeface="DM Sans"/>
                <a:ea typeface="DM Sans"/>
                <a:cs typeface="DM Sans"/>
                <a:sym typeface="DM Sans"/>
              </a:rPr>
              <a:t>Valor energético</a:t>
            </a:r>
            <a:endParaRPr b="0" i="0" sz="1200" u="none" cap="none" strike="noStrike">
              <a:solidFill>
                <a:schemeClr val="dk1"/>
              </a:solidFill>
              <a:latin typeface="DM Sans"/>
              <a:ea typeface="DM Sans"/>
              <a:cs typeface="DM Sans"/>
              <a:sym typeface="DM Sans"/>
            </a:endParaRPr>
          </a:p>
        </p:txBody>
      </p:sp>
      <p:sp>
        <p:nvSpPr>
          <p:cNvPr id="47" name="Google Shape;47;p3"/>
          <p:cNvSpPr/>
          <p:nvPr/>
        </p:nvSpPr>
        <p:spPr>
          <a:xfrm>
            <a:off x="2705695" y="4120193"/>
            <a:ext cx="949433" cy="340410"/>
          </a:xfrm>
          <a:prstGeom prst="roundRect">
            <a:avLst>
              <a:gd fmla="val 50000" name="adj"/>
            </a:avLst>
          </a:prstGeom>
          <a:solidFill>
            <a:srgbClr val="FBE3E1"/>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8E1621"/>
              </a:buClr>
              <a:buSzPts val="1200"/>
              <a:buFont typeface="DM Sans"/>
              <a:buNone/>
            </a:pPr>
            <a:r>
              <a:rPr b="0" i="0" lang="en-US" sz="1200" u="none" cap="none" strike="noStrike">
                <a:solidFill>
                  <a:srgbClr val="8E1621"/>
                </a:solidFill>
                <a:latin typeface="DM Sans"/>
                <a:ea typeface="DM Sans"/>
                <a:cs typeface="DM Sans"/>
                <a:sym typeface="DM Sans"/>
              </a:rPr>
              <a:t>Proteínas</a:t>
            </a:r>
            <a:endParaRPr b="0" i="0" sz="1200" u="none" cap="none" strike="noStrike">
              <a:solidFill>
                <a:schemeClr val="dk1"/>
              </a:solidFill>
              <a:latin typeface="DM Sans"/>
              <a:ea typeface="DM Sans"/>
              <a:cs typeface="DM Sans"/>
              <a:sym typeface="DM Sans"/>
            </a:endParaRPr>
          </a:p>
        </p:txBody>
      </p:sp>
      <p:sp>
        <p:nvSpPr>
          <p:cNvPr id="48" name="Google Shape;48;p3"/>
          <p:cNvSpPr/>
          <p:nvPr/>
        </p:nvSpPr>
        <p:spPr>
          <a:xfrm>
            <a:off x="3731256" y="4120193"/>
            <a:ext cx="1225352" cy="340410"/>
          </a:xfrm>
          <a:prstGeom prst="roundRect">
            <a:avLst>
              <a:gd fmla="val 50000" name="adj"/>
            </a:avLst>
          </a:prstGeom>
          <a:solidFill>
            <a:srgbClr val="FBE3E1"/>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8E1621"/>
              </a:buClr>
              <a:buSzPts val="1200"/>
              <a:buFont typeface="DM Sans"/>
              <a:buNone/>
            </a:pPr>
            <a:r>
              <a:rPr b="0" i="0" lang="en-US" sz="1200" u="none" cap="none" strike="noStrike">
                <a:solidFill>
                  <a:srgbClr val="8E1621"/>
                </a:solidFill>
                <a:latin typeface="DM Sans"/>
                <a:ea typeface="DM Sans"/>
                <a:cs typeface="DM Sans"/>
                <a:sym typeface="DM Sans"/>
              </a:rPr>
              <a:t>Carboidratos</a:t>
            </a:r>
            <a:endParaRPr b="0" i="0" sz="1200" u="none" cap="none" strike="noStrike">
              <a:solidFill>
                <a:schemeClr val="dk1"/>
              </a:solidFill>
              <a:latin typeface="DM Sans"/>
              <a:ea typeface="DM Sans"/>
              <a:cs typeface="DM Sans"/>
              <a:sym typeface="DM Sans"/>
            </a:endParaRPr>
          </a:p>
        </p:txBody>
      </p:sp>
      <p:sp>
        <p:nvSpPr>
          <p:cNvPr id="49" name="Google Shape;49;p3"/>
          <p:cNvSpPr/>
          <p:nvPr/>
        </p:nvSpPr>
        <p:spPr>
          <a:xfrm>
            <a:off x="1174119" y="4536731"/>
            <a:ext cx="886204" cy="340410"/>
          </a:xfrm>
          <a:prstGeom prst="roundRect">
            <a:avLst>
              <a:gd fmla="val 50000" name="adj"/>
            </a:avLst>
          </a:prstGeom>
          <a:solidFill>
            <a:srgbClr val="FBE3E1"/>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8E1621"/>
              </a:buClr>
              <a:buSzPts val="1200"/>
              <a:buFont typeface="DM Sans"/>
              <a:buNone/>
            </a:pPr>
            <a:r>
              <a:rPr b="0" i="0" lang="en-US" sz="1200" u="none" cap="none" strike="noStrike">
                <a:solidFill>
                  <a:srgbClr val="8E1621"/>
                </a:solidFill>
                <a:latin typeface="DM Sans"/>
                <a:ea typeface="DM Sans"/>
                <a:cs typeface="DM Sans"/>
                <a:sym typeface="DM Sans"/>
              </a:rPr>
              <a:t>Lipídeos</a:t>
            </a:r>
            <a:endParaRPr b="0" i="0" sz="1200" u="none" cap="none" strike="noStrike">
              <a:solidFill>
                <a:schemeClr val="dk1"/>
              </a:solidFill>
              <a:latin typeface="DM Sans"/>
              <a:ea typeface="DM Sans"/>
              <a:cs typeface="DM Sans"/>
              <a:sym typeface="DM Sans"/>
            </a:endParaRPr>
          </a:p>
        </p:txBody>
      </p:sp>
      <p:sp>
        <p:nvSpPr>
          <p:cNvPr id="50" name="Google Shape;50;p3"/>
          <p:cNvSpPr/>
          <p:nvPr/>
        </p:nvSpPr>
        <p:spPr>
          <a:xfrm>
            <a:off x="6200739" y="1953816"/>
            <a:ext cx="5175304" cy="4088227"/>
          </a:xfrm>
          <a:prstGeom prst="roundRect">
            <a:avLst>
              <a:gd fmla="val 3650" name="adj"/>
            </a:avLst>
          </a:prstGeom>
          <a:solidFill>
            <a:srgbClr val="FFFFFF"/>
          </a:solidFill>
          <a:ln cap="flat" cmpd="sng" w="9525">
            <a:solidFill>
              <a:srgbClr val="E8DF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at" id="51" name="Google Shape;51;p3"/>
          <p:cNvPicPr preferRelativeResize="0"/>
          <p:nvPr/>
        </p:nvPicPr>
        <p:blipFill rotWithShape="1">
          <a:blip r:embed="rId4">
            <a:alphaModFix/>
          </a:blip>
          <a:srcRect b="0" l="0" r="0" t="0"/>
          <a:stretch/>
        </p:blipFill>
        <p:spPr>
          <a:xfrm>
            <a:off x="6558900" y="2311977"/>
            <a:ext cx="406346" cy="406346"/>
          </a:xfrm>
          <a:prstGeom prst="rect">
            <a:avLst/>
          </a:prstGeom>
          <a:noFill/>
          <a:ln>
            <a:noFill/>
          </a:ln>
        </p:spPr>
      </p:pic>
      <p:sp>
        <p:nvSpPr>
          <p:cNvPr id="52" name="Google Shape;52;p3"/>
          <p:cNvSpPr/>
          <p:nvPr/>
        </p:nvSpPr>
        <p:spPr>
          <a:xfrm>
            <a:off x="6558900" y="2896104"/>
            <a:ext cx="4592750" cy="360669"/>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E1A1B"/>
              </a:buClr>
              <a:buSzPts val="2200"/>
              <a:buFont typeface="Rubik"/>
              <a:buNone/>
            </a:pPr>
            <a:r>
              <a:rPr b="1" i="0" lang="en-US" sz="2200" u="none" cap="none" strike="noStrike">
                <a:solidFill>
                  <a:srgbClr val="1E1A1B"/>
                </a:solidFill>
                <a:latin typeface="Rubik"/>
                <a:ea typeface="Rubik"/>
                <a:cs typeface="Rubik"/>
                <a:sym typeface="Rubik"/>
              </a:rPr>
              <a:t>Assistente de pedidos</a:t>
            </a:r>
            <a:endParaRPr b="0" i="0" sz="2200" u="none" cap="none" strike="noStrike">
              <a:solidFill>
                <a:schemeClr val="dk1"/>
              </a:solidFill>
              <a:latin typeface="DM Sans"/>
              <a:ea typeface="DM Sans"/>
              <a:cs typeface="DM Sans"/>
              <a:sym typeface="DM Sans"/>
            </a:endParaRPr>
          </a:p>
        </p:txBody>
      </p:sp>
      <p:sp>
        <p:nvSpPr>
          <p:cNvPr id="53" name="Google Shape;53;p3"/>
          <p:cNvSpPr/>
          <p:nvPr/>
        </p:nvSpPr>
        <p:spPr>
          <a:xfrm>
            <a:off x="6558900" y="3409156"/>
            <a:ext cx="4592750" cy="558656"/>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F4648"/>
              </a:buClr>
              <a:buSzPts val="1500"/>
              <a:buFont typeface="DM Sans"/>
              <a:buNone/>
            </a:pPr>
            <a:r>
              <a:rPr b="0" i="0" lang="en-US" sz="1500" u="none" cap="none" strike="noStrike">
                <a:solidFill>
                  <a:srgbClr val="4F4648"/>
                </a:solidFill>
                <a:latin typeface="DM Sans"/>
                <a:ea typeface="DM Sans"/>
                <a:cs typeface="DM Sans"/>
                <a:sym typeface="DM Sans"/>
              </a:rPr>
              <a:t>Um chatbot que ajuda o usuário a fazer o pedido e a filtrar opções pelo valor nutricional.</a:t>
            </a:r>
            <a:endParaRPr b="0" i="0" sz="1500" u="none" cap="none" strike="noStrike">
              <a:solidFill>
                <a:schemeClr val="dk1"/>
              </a:solidFill>
              <a:latin typeface="DM Sans"/>
              <a:ea typeface="DM Sans"/>
              <a:cs typeface="DM Sans"/>
              <a:sym typeface="DM Sans"/>
            </a:endParaRPr>
          </a:p>
        </p:txBody>
      </p:sp>
      <p:sp>
        <p:nvSpPr>
          <p:cNvPr id="54" name="Google Shape;54;p3"/>
          <p:cNvSpPr/>
          <p:nvPr/>
        </p:nvSpPr>
        <p:spPr>
          <a:xfrm>
            <a:off x="6558900" y="4120193"/>
            <a:ext cx="1618979" cy="340410"/>
          </a:xfrm>
          <a:prstGeom prst="roundRect">
            <a:avLst>
              <a:gd fmla="val 50000" name="adj"/>
            </a:avLst>
          </a:prstGeom>
          <a:solidFill>
            <a:srgbClr val="FBE3E1"/>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8E1621"/>
              </a:buClr>
              <a:buSzPts val="1200"/>
              <a:buFont typeface="DM Sans"/>
              <a:buNone/>
            </a:pPr>
            <a:r>
              <a:rPr b="0" i="0" lang="en-US" sz="1200" u="none" cap="none" strike="noStrike">
                <a:solidFill>
                  <a:srgbClr val="8E1621"/>
                </a:solidFill>
                <a:latin typeface="DM Sans"/>
                <a:ea typeface="DM Sans"/>
                <a:cs typeface="DM Sans"/>
                <a:sym typeface="DM Sans"/>
              </a:rPr>
              <a:t>Pedir conversando</a:t>
            </a:r>
            <a:endParaRPr b="0" i="0" sz="1200" u="none" cap="none" strike="noStrike">
              <a:solidFill>
                <a:schemeClr val="dk1"/>
              </a:solidFill>
              <a:latin typeface="DM Sans"/>
              <a:ea typeface="DM Sans"/>
              <a:cs typeface="DM Sans"/>
              <a:sym typeface="DM Sans"/>
            </a:endParaRPr>
          </a:p>
        </p:txBody>
      </p:sp>
      <p:sp>
        <p:nvSpPr>
          <p:cNvPr id="55" name="Google Shape;55;p3"/>
          <p:cNvSpPr/>
          <p:nvPr/>
        </p:nvSpPr>
        <p:spPr>
          <a:xfrm>
            <a:off x="8254008" y="4120193"/>
            <a:ext cx="1763839" cy="340410"/>
          </a:xfrm>
          <a:prstGeom prst="roundRect">
            <a:avLst>
              <a:gd fmla="val 50000" name="adj"/>
            </a:avLst>
          </a:prstGeom>
          <a:solidFill>
            <a:srgbClr val="FBE3E1"/>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8E1621"/>
              </a:buClr>
              <a:buSzPts val="1200"/>
              <a:buFont typeface="DM Sans"/>
              <a:buNone/>
            </a:pPr>
            <a:r>
              <a:rPr b="0" i="0" lang="en-US" sz="1200" u="none" cap="none" strike="noStrike">
                <a:solidFill>
                  <a:srgbClr val="8E1621"/>
                </a:solidFill>
                <a:latin typeface="DM Sans"/>
                <a:ea typeface="DM Sans"/>
                <a:cs typeface="DM Sans"/>
                <a:sym typeface="DM Sans"/>
              </a:rPr>
              <a:t>Filtrar por nutrientes</a:t>
            </a:r>
            <a:endParaRPr b="0" i="0" sz="1200" u="none" cap="none" strike="noStrike">
              <a:solidFill>
                <a:schemeClr val="dk1"/>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6F1"/>
        </a:solidFill>
      </p:bgPr>
    </p:bg>
    <p:spTree>
      <p:nvGrpSpPr>
        <p:cNvPr id="60" name="Shape 60"/>
        <p:cNvGrpSpPr/>
        <p:nvPr/>
      </p:nvGrpSpPr>
      <p:grpSpPr>
        <a:xfrm>
          <a:off x="0" y="0"/>
          <a:ext cx="0" cy="0"/>
          <a:chOff x="0" y="0"/>
          <a:chExt cx="0" cy="0"/>
        </a:xfrm>
      </p:grpSpPr>
      <p:sp>
        <p:nvSpPr>
          <p:cNvPr id="61" name="Google Shape;61;p4"/>
          <p:cNvSpPr/>
          <p:nvPr/>
        </p:nvSpPr>
        <p:spPr>
          <a:xfrm>
            <a:off x="812782" y="812781"/>
            <a:ext cx="10883429" cy="23881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8202F"/>
              </a:buClr>
              <a:buSzPts val="1200"/>
              <a:buFont typeface="DM Sans"/>
              <a:buNone/>
            </a:pPr>
            <a:r>
              <a:rPr b="1" i="0" lang="en-US" sz="1200" u="none" cap="none" strike="noStrike">
                <a:solidFill>
                  <a:srgbClr val="C8202F"/>
                </a:solidFill>
                <a:latin typeface="DM Sans"/>
                <a:ea typeface="DM Sans"/>
                <a:cs typeface="DM Sans"/>
                <a:sym typeface="DM Sans"/>
              </a:rPr>
              <a:t>COMO FUNCIONA</a:t>
            </a:r>
            <a:endParaRPr b="0" i="0" sz="1200" u="none" cap="none" strike="noStrike">
              <a:solidFill>
                <a:schemeClr val="dk1"/>
              </a:solidFill>
              <a:latin typeface="DM Sans"/>
              <a:ea typeface="DM Sans"/>
              <a:cs typeface="DM Sans"/>
              <a:sym typeface="DM Sans"/>
            </a:endParaRPr>
          </a:p>
        </p:txBody>
      </p:sp>
      <p:sp>
        <p:nvSpPr>
          <p:cNvPr id="62" name="Google Shape;62;p4"/>
          <p:cNvSpPr txBox="1"/>
          <p:nvPr>
            <p:ph type="title"/>
          </p:nvPr>
        </p:nvSpPr>
        <p:spPr>
          <a:xfrm>
            <a:off x="812782" y="1127756"/>
            <a:ext cx="10883429" cy="49272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1E1A1B"/>
              </a:buClr>
              <a:buSzPts val="3200"/>
              <a:buFont typeface="Rubik"/>
              <a:buNone/>
            </a:pPr>
            <a:r>
              <a:rPr b="1" i="0" lang="en-US" sz="3200">
                <a:solidFill>
                  <a:srgbClr val="1E1A1B"/>
                </a:solidFill>
                <a:latin typeface="Rubik"/>
                <a:ea typeface="Rubik"/>
                <a:cs typeface="Rubik"/>
                <a:sym typeface="Rubik"/>
              </a:rPr>
              <a:t>Do pedido à estimativa, com transparência</a:t>
            </a:r>
            <a:endParaRPr sz="3200"/>
          </a:p>
        </p:txBody>
      </p:sp>
      <p:sp>
        <p:nvSpPr>
          <p:cNvPr id="63" name="Google Shape;63;p4"/>
          <p:cNvSpPr/>
          <p:nvPr/>
        </p:nvSpPr>
        <p:spPr>
          <a:xfrm>
            <a:off x="812782" y="1823639"/>
            <a:ext cx="10883429" cy="23881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6F6C"/>
              </a:buClr>
              <a:buSzPts val="1200"/>
              <a:buFont typeface="DM Sans"/>
              <a:buNone/>
            </a:pPr>
            <a:r>
              <a:rPr b="1" i="0" lang="en-US" sz="1200" u="none" cap="none" strike="noStrike">
                <a:solidFill>
                  <a:srgbClr val="7A6F6C"/>
                </a:solidFill>
                <a:latin typeface="DM Sans"/>
                <a:ea typeface="DM Sans"/>
                <a:cs typeface="DM Sans"/>
                <a:sym typeface="DM Sans"/>
              </a:rPr>
              <a:t>Fluxo da demonstração (piloto)</a:t>
            </a:r>
            <a:endParaRPr b="0" i="0" sz="1200" u="none" cap="none" strike="noStrike">
              <a:solidFill>
                <a:schemeClr val="dk1"/>
              </a:solidFill>
              <a:latin typeface="DM Sans"/>
              <a:ea typeface="DM Sans"/>
              <a:cs typeface="DM Sans"/>
              <a:sym typeface="DM Sans"/>
            </a:endParaRPr>
          </a:p>
        </p:txBody>
      </p:sp>
      <p:sp>
        <p:nvSpPr>
          <p:cNvPr id="64" name="Google Shape;64;p4"/>
          <p:cNvSpPr/>
          <p:nvPr/>
        </p:nvSpPr>
        <p:spPr>
          <a:xfrm>
            <a:off x="815957" y="2141789"/>
            <a:ext cx="2238068" cy="1995974"/>
          </a:xfrm>
          <a:prstGeom prst="roundRect">
            <a:avLst>
              <a:gd fmla="val 6204" name="adj"/>
            </a:avLst>
          </a:prstGeom>
          <a:solidFill>
            <a:srgbClr val="FFFFFF"/>
          </a:solidFill>
          <a:ln cap="flat" cmpd="sng" w="9525">
            <a:solidFill>
              <a:srgbClr val="E8DF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4"/>
          <p:cNvSpPr/>
          <p:nvPr/>
        </p:nvSpPr>
        <p:spPr>
          <a:xfrm>
            <a:off x="1021683" y="2347514"/>
            <a:ext cx="1881416" cy="274259"/>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8202F"/>
              </a:buClr>
              <a:buSzPts val="1400"/>
              <a:buFont typeface="Rubik"/>
              <a:buNone/>
            </a:pPr>
            <a:r>
              <a:rPr b="1" i="0" lang="en-US" sz="1400" u="none" cap="none" strike="noStrike">
                <a:solidFill>
                  <a:srgbClr val="C8202F"/>
                </a:solidFill>
                <a:latin typeface="Rubik"/>
                <a:ea typeface="Rubik"/>
                <a:cs typeface="Rubik"/>
                <a:sym typeface="Rubik"/>
              </a:rPr>
              <a:t>01</a:t>
            </a:r>
            <a:endParaRPr b="0" i="0" sz="1400" u="none" cap="none" strike="noStrike">
              <a:solidFill>
                <a:schemeClr val="dk1"/>
              </a:solidFill>
              <a:latin typeface="DM Sans"/>
              <a:ea typeface="DM Sans"/>
              <a:cs typeface="DM Sans"/>
              <a:sym typeface="DM Sans"/>
            </a:endParaRPr>
          </a:p>
        </p:txBody>
      </p:sp>
      <p:sp>
        <p:nvSpPr>
          <p:cNvPr id="66" name="Google Shape;66;p4"/>
          <p:cNvSpPr/>
          <p:nvPr/>
        </p:nvSpPr>
        <p:spPr>
          <a:xfrm>
            <a:off x="1021683" y="2672502"/>
            <a:ext cx="1881416" cy="284451"/>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E1A1B"/>
              </a:buClr>
              <a:buSzPts val="1700"/>
              <a:buFont typeface="Rubik"/>
              <a:buNone/>
            </a:pPr>
            <a:r>
              <a:rPr b="1" i="0" lang="en-US" sz="1700" u="none" cap="none" strike="noStrike">
                <a:solidFill>
                  <a:srgbClr val="1E1A1B"/>
                </a:solidFill>
                <a:latin typeface="Rubik"/>
                <a:ea typeface="Rubik"/>
                <a:cs typeface="Rubik"/>
                <a:sym typeface="Rubik"/>
              </a:rPr>
              <a:t>Busca</a:t>
            </a:r>
            <a:endParaRPr b="0" i="0" sz="1700" u="none" cap="none" strike="noStrike">
              <a:solidFill>
                <a:schemeClr val="dk1"/>
              </a:solidFill>
              <a:latin typeface="DM Sans"/>
              <a:ea typeface="DM Sans"/>
              <a:cs typeface="DM Sans"/>
              <a:sym typeface="DM Sans"/>
            </a:endParaRPr>
          </a:p>
        </p:txBody>
      </p:sp>
      <p:sp>
        <p:nvSpPr>
          <p:cNvPr id="67" name="Google Shape;67;p4"/>
          <p:cNvSpPr/>
          <p:nvPr/>
        </p:nvSpPr>
        <p:spPr>
          <a:xfrm>
            <a:off x="1021683" y="3007680"/>
            <a:ext cx="1881416" cy="718668"/>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F4648"/>
              </a:buClr>
              <a:buSzPts val="1300"/>
              <a:buFont typeface="DM Sans"/>
              <a:buNone/>
            </a:pPr>
            <a:r>
              <a:rPr b="0" i="0" lang="en-US" sz="1300" u="none" cap="none" strike="noStrike">
                <a:solidFill>
                  <a:srgbClr val="4F4648"/>
                </a:solidFill>
                <a:latin typeface="DM Sans"/>
                <a:ea typeface="DM Sans"/>
                <a:cs typeface="DM Sans"/>
                <a:sym typeface="DM Sans"/>
              </a:rPr>
              <a:t>Pelo assistente ou pelo fluxo de compra padrão.</a:t>
            </a:r>
            <a:endParaRPr b="0" i="0" sz="1300" u="none" cap="none" strike="noStrike">
              <a:solidFill>
                <a:schemeClr val="dk1"/>
              </a:solidFill>
              <a:latin typeface="DM Sans"/>
              <a:ea typeface="DM Sans"/>
              <a:cs typeface="DM Sans"/>
              <a:sym typeface="DM Sans"/>
            </a:endParaRPr>
          </a:p>
        </p:txBody>
      </p:sp>
      <p:pic>
        <p:nvPicPr>
          <p:cNvPr descr="arrow-right" id="68" name="Google Shape;68;p4"/>
          <p:cNvPicPr preferRelativeResize="0"/>
          <p:nvPr/>
        </p:nvPicPr>
        <p:blipFill rotWithShape="1">
          <a:blip r:embed="rId3">
            <a:alphaModFix/>
          </a:blip>
          <a:srcRect b="0" l="-8" r="-8" t="0"/>
          <a:stretch/>
        </p:blipFill>
        <p:spPr>
          <a:xfrm>
            <a:off x="3184200" y="3063604"/>
            <a:ext cx="279346" cy="152346"/>
          </a:xfrm>
          <a:prstGeom prst="rect">
            <a:avLst/>
          </a:prstGeom>
          <a:noFill/>
          <a:ln>
            <a:noFill/>
          </a:ln>
        </p:spPr>
      </p:pic>
      <p:sp>
        <p:nvSpPr>
          <p:cNvPr id="69" name="Google Shape;69;p4"/>
          <p:cNvSpPr/>
          <p:nvPr/>
        </p:nvSpPr>
        <p:spPr>
          <a:xfrm>
            <a:off x="3593721" y="2141789"/>
            <a:ext cx="2238158" cy="1995974"/>
          </a:xfrm>
          <a:prstGeom prst="roundRect">
            <a:avLst>
              <a:gd fmla="val 6204" name="adj"/>
            </a:avLst>
          </a:prstGeom>
          <a:solidFill>
            <a:srgbClr val="FFFFFF"/>
          </a:solidFill>
          <a:ln cap="flat" cmpd="sng" w="9525">
            <a:solidFill>
              <a:srgbClr val="E8DF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4"/>
          <p:cNvSpPr/>
          <p:nvPr/>
        </p:nvSpPr>
        <p:spPr>
          <a:xfrm>
            <a:off x="3799447" y="2347514"/>
            <a:ext cx="1881509" cy="274259"/>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8202F"/>
              </a:buClr>
              <a:buSzPts val="1400"/>
              <a:buFont typeface="Rubik"/>
              <a:buNone/>
            </a:pPr>
            <a:r>
              <a:rPr b="1" i="0" lang="en-US" sz="1400" u="none" cap="none" strike="noStrike">
                <a:solidFill>
                  <a:srgbClr val="C8202F"/>
                </a:solidFill>
                <a:latin typeface="Rubik"/>
                <a:ea typeface="Rubik"/>
                <a:cs typeface="Rubik"/>
                <a:sym typeface="Rubik"/>
              </a:rPr>
              <a:t>02</a:t>
            </a:r>
            <a:endParaRPr b="0" i="0" sz="1400" u="none" cap="none" strike="noStrike">
              <a:solidFill>
                <a:schemeClr val="dk1"/>
              </a:solidFill>
              <a:latin typeface="DM Sans"/>
              <a:ea typeface="DM Sans"/>
              <a:cs typeface="DM Sans"/>
              <a:sym typeface="DM Sans"/>
            </a:endParaRPr>
          </a:p>
        </p:txBody>
      </p:sp>
      <p:sp>
        <p:nvSpPr>
          <p:cNvPr id="71" name="Google Shape;71;p4"/>
          <p:cNvSpPr/>
          <p:nvPr/>
        </p:nvSpPr>
        <p:spPr>
          <a:xfrm>
            <a:off x="3799447" y="2672502"/>
            <a:ext cx="1881509" cy="284451"/>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E1A1B"/>
              </a:buClr>
              <a:buSzPts val="1700"/>
              <a:buFont typeface="Rubik"/>
              <a:buNone/>
            </a:pPr>
            <a:r>
              <a:rPr b="1" i="0" lang="en-US" sz="1700" u="none" cap="none" strike="noStrike">
                <a:solidFill>
                  <a:srgbClr val="1E1A1B"/>
                </a:solidFill>
                <a:latin typeface="Rubik"/>
                <a:ea typeface="Rubik"/>
                <a:cs typeface="Rubik"/>
                <a:sym typeface="Rubik"/>
              </a:rPr>
              <a:t>Seleção</a:t>
            </a:r>
            <a:endParaRPr b="0" i="0" sz="1700" u="none" cap="none" strike="noStrike">
              <a:solidFill>
                <a:schemeClr val="dk1"/>
              </a:solidFill>
              <a:latin typeface="DM Sans"/>
              <a:ea typeface="DM Sans"/>
              <a:cs typeface="DM Sans"/>
              <a:sym typeface="DM Sans"/>
            </a:endParaRPr>
          </a:p>
        </p:txBody>
      </p:sp>
      <p:sp>
        <p:nvSpPr>
          <p:cNvPr id="72" name="Google Shape;72;p4"/>
          <p:cNvSpPr/>
          <p:nvPr/>
        </p:nvSpPr>
        <p:spPr>
          <a:xfrm>
            <a:off x="3799447" y="3007680"/>
            <a:ext cx="1881509" cy="949758"/>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F4648"/>
              </a:buClr>
              <a:buSzPts val="1300"/>
              <a:buFont typeface="DM Sans"/>
              <a:buNone/>
            </a:pPr>
            <a:r>
              <a:rPr b="0" i="0" lang="en-US" sz="1300" u="none" cap="none" strike="noStrike">
                <a:solidFill>
                  <a:srgbClr val="4F4648"/>
                </a:solidFill>
                <a:latin typeface="DM Sans"/>
                <a:ea typeface="DM Sans"/>
                <a:cs typeface="DM Sans"/>
                <a:sym typeface="DM Sans"/>
              </a:rPr>
              <a:t>Produto escolhido, sem opções obrigatórias pendentes (sabor, porção…).</a:t>
            </a:r>
            <a:endParaRPr b="0" i="0" sz="1300" u="none" cap="none" strike="noStrike">
              <a:solidFill>
                <a:schemeClr val="dk1"/>
              </a:solidFill>
              <a:latin typeface="DM Sans"/>
              <a:ea typeface="DM Sans"/>
              <a:cs typeface="DM Sans"/>
              <a:sym typeface="DM Sans"/>
            </a:endParaRPr>
          </a:p>
        </p:txBody>
      </p:sp>
      <p:pic>
        <p:nvPicPr>
          <p:cNvPr descr="arrow-right" id="73" name="Google Shape;73;p4"/>
          <p:cNvPicPr preferRelativeResize="0"/>
          <p:nvPr/>
        </p:nvPicPr>
        <p:blipFill rotWithShape="1">
          <a:blip r:embed="rId3">
            <a:alphaModFix/>
          </a:blip>
          <a:srcRect b="0" l="-8" r="-8" t="0"/>
          <a:stretch/>
        </p:blipFill>
        <p:spPr>
          <a:xfrm>
            <a:off x="5962054" y="3063604"/>
            <a:ext cx="279346" cy="152346"/>
          </a:xfrm>
          <a:prstGeom prst="rect">
            <a:avLst/>
          </a:prstGeom>
          <a:noFill/>
          <a:ln>
            <a:noFill/>
          </a:ln>
        </p:spPr>
      </p:pic>
      <p:sp>
        <p:nvSpPr>
          <p:cNvPr id="74" name="Google Shape;74;p4"/>
          <p:cNvSpPr/>
          <p:nvPr/>
        </p:nvSpPr>
        <p:spPr>
          <a:xfrm>
            <a:off x="6371575" y="2141789"/>
            <a:ext cx="2238158" cy="1995974"/>
          </a:xfrm>
          <a:prstGeom prst="roundRect">
            <a:avLst>
              <a:gd fmla="val 6204" name="adj"/>
            </a:avLst>
          </a:prstGeom>
          <a:solidFill>
            <a:srgbClr val="FFFFFF"/>
          </a:solidFill>
          <a:ln cap="flat" cmpd="sng" w="9525">
            <a:solidFill>
              <a:srgbClr val="E8DF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4"/>
          <p:cNvSpPr/>
          <p:nvPr/>
        </p:nvSpPr>
        <p:spPr>
          <a:xfrm>
            <a:off x="6577301" y="2347514"/>
            <a:ext cx="1881509" cy="274259"/>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8202F"/>
              </a:buClr>
              <a:buSzPts val="1400"/>
              <a:buFont typeface="Rubik"/>
              <a:buNone/>
            </a:pPr>
            <a:r>
              <a:rPr b="1" i="0" lang="en-US" sz="1400" u="none" cap="none" strike="noStrike">
                <a:solidFill>
                  <a:srgbClr val="C8202F"/>
                </a:solidFill>
                <a:latin typeface="Rubik"/>
                <a:ea typeface="Rubik"/>
                <a:cs typeface="Rubik"/>
                <a:sym typeface="Rubik"/>
              </a:rPr>
              <a:t>03</a:t>
            </a:r>
            <a:endParaRPr b="0" i="0" sz="1400" u="none" cap="none" strike="noStrike">
              <a:solidFill>
                <a:schemeClr val="dk1"/>
              </a:solidFill>
              <a:latin typeface="DM Sans"/>
              <a:ea typeface="DM Sans"/>
              <a:cs typeface="DM Sans"/>
              <a:sym typeface="DM Sans"/>
            </a:endParaRPr>
          </a:p>
        </p:txBody>
      </p:sp>
      <p:sp>
        <p:nvSpPr>
          <p:cNvPr id="76" name="Google Shape;76;p4"/>
          <p:cNvSpPr/>
          <p:nvPr/>
        </p:nvSpPr>
        <p:spPr>
          <a:xfrm>
            <a:off x="6577301" y="2672502"/>
            <a:ext cx="1881509" cy="284451"/>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E1A1B"/>
              </a:buClr>
              <a:buSzPts val="1700"/>
              <a:buFont typeface="Rubik"/>
              <a:buNone/>
            </a:pPr>
            <a:r>
              <a:rPr b="1" i="0" lang="en-US" sz="1700" u="none" cap="none" strike="noStrike">
                <a:solidFill>
                  <a:srgbClr val="1E1A1B"/>
                </a:solidFill>
                <a:latin typeface="Rubik"/>
                <a:ea typeface="Rubik"/>
                <a:cs typeface="Rubik"/>
                <a:sym typeface="Rubik"/>
              </a:rPr>
              <a:t>Previsão</a:t>
            </a:r>
            <a:endParaRPr b="0" i="0" sz="1700" u="none" cap="none" strike="noStrike">
              <a:solidFill>
                <a:schemeClr val="dk1"/>
              </a:solidFill>
              <a:latin typeface="DM Sans"/>
              <a:ea typeface="DM Sans"/>
              <a:cs typeface="DM Sans"/>
              <a:sym typeface="DM Sans"/>
            </a:endParaRPr>
          </a:p>
        </p:txBody>
      </p:sp>
      <p:sp>
        <p:nvSpPr>
          <p:cNvPr id="77" name="Google Shape;77;p4"/>
          <p:cNvSpPr/>
          <p:nvPr/>
        </p:nvSpPr>
        <p:spPr>
          <a:xfrm>
            <a:off x="6577301" y="3007680"/>
            <a:ext cx="1881509" cy="718668"/>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F4648"/>
              </a:buClr>
              <a:buSzPts val="1300"/>
              <a:buFont typeface="DM Sans"/>
              <a:buNone/>
            </a:pPr>
            <a:r>
              <a:rPr b="0" i="0" lang="en-US" sz="1300" u="none" cap="none" strike="noStrike">
                <a:solidFill>
                  <a:srgbClr val="4F4648"/>
                </a:solidFill>
                <a:latin typeface="DM Sans"/>
                <a:ea typeface="DM Sans"/>
                <a:cs typeface="DM Sans"/>
                <a:sym typeface="DM Sans"/>
              </a:rPr>
              <a:t>O modelo de previsão calcula o valor nutricional.</a:t>
            </a:r>
            <a:endParaRPr b="0" i="0" sz="1300" u="none" cap="none" strike="noStrike">
              <a:solidFill>
                <a:schemeClr val="dk1"/>
              </a:solidFill>
              <a:latin typeface="DM Sans"/>
              <a:ea typeface="DM Sans"/>
              <a:cs typeface="DM Sans"/>
              <a:sym typeface="DM Sans"/>
            </a:endParaRPr>
          </a:p>
        </p:txBody>
      </p:sp>
      <p:pic>
        <p:nvPicPr>
          <p:cNvPr descr="arrow-right" id="78" name="Google Shape;78;p4"/>
          <p:cNvPicPr preferRelativeResize="0"/>
          <p:nvPr/>
        </p:nvPicPr>
        <p:blipFill rotWithShape="1">
          <a:blip r:embed="rId3">
            <a:alphaModFix/>
          </a:blip>
          <a:srcRect b="0" l="-8" r="-8" t="0"/>
          <a:stretch/>
        </p:blipFill>
        <p:spPr>
          <a:xfrm>
            <a:off x="8739909" y="3063604"/>
            <a:ext cx="279346" cy="152346"/>
          </a:xfrm>
          <a:prstGeom prst="rect">
            <a:avLst/>
          </a:prstGeom>
          <a:noFill/>
          <a:ln>
            <a:noFill/>
          </a:ln>
        </p:spPr>
      </p:pic>
      <p:sp>
        <p:nvSpPr>
          <p:cNvPr id="79" name="Google Shape;79;p4"/>
          <p:cNvSpPr/>
          <p:nvPr/>
        </p:nvSpPr>
        <p:spPr>
          <a:xfrm>
            <a:off x="9146255" y="2138614"/>
            <a:ext cx="2232963" cy="2002324"/>
          </a:xfrm>
          <a:prstGeom prst="roundRect">
            <a:avLst>
              <a:gd fmla="val 6343" name="adj"/>
            </a:avLst>
          </a:prstGeom>
          <a:solidFill>
            <a:srgbClr val="1E1A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4"/>
          <p:cNvSpPr/>
          <p:nvPr/>
        </p:nvSpPr>
        <p:spPr>
          <a:xfrm>
            <a:off x="9349383" y="2341742"/>
            <a:ext cx="1881509" cy="274259"/>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7A7C"/>
              </a:buClr>
              <a:buSzPts val="1400"/>
              <a:buFont typeface="Rubik"/>
              <a:buNone/>
            </a:pPr>
            <a:r>
              <a:rPr b="1" i="0" lang="en-US" sz="1400" u="none" cap="none" strike="noStrike">
                <a:solidFill>
                  <a:srgbClr val="FF7A7C"/>
                </a:solidFill>
                <a:latin typeface="Rubik"/>
                <a:ea typeface="Rubik"/>
                <a:cs typeface="Rubik"/>
                <a:sym typeface="Rubik"/>
              </a:rPr>
              <a:t>04</a:t>
            </a:r>
            <a:endParaRPr b="0" i="0" sz="1400" u="none" cap="none" strike="noStrike">
              <a:solidFill>
                <a:schemeClr val="dk1"/>
              </a:solidFill>
              <a:latin typeface="DM Sans"/>
              <a:ea typeface="DM Sans"/>
              <a:cs typeface="DM Sans"/>
              <a:sym typeface="DM Sans"/>
            </a:endParaRPr>
          </a:p>
        </p:txBody>
      </p:sp>
      <p:sp>
        <p:nvSpPr>
          <p:cNvPr id="81" name="Google Shape;81;p4"/>
          <p:cNvSpPr/>
          <p:nvPr/>
        </p:nvSpPr>
        <p:spPr>
          <a:xfrm>
            <a:off x="9349383" y="2666729"/>
            <a:ext cx="1881509" cy="284451"/>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AF6F1"/>
              </a:buClr>
              <a:buSzPts val="1700"/>
              <a:buFont typeface="Rubik"/>
              <a:buNone/>
            </a:pPr>
            <a:r>
              <a:rPr b="1" i="0" lang="en-US" sz="1700" u="none" cap="none" strike="noStrike">
                <a:solidFill>
                  <a:srgbClr val="FAF6F1"/>
                </a:solidFill>
                <a:latin typeface="Rubik"/>
                <a:ea typeface="Rubik"/>
                <a:cs typeface="Rubik"/>
                <a:sym typeface="Rubik"/>
              </a:rPr>
              <a:t>Resultado</a:t>
            </a:r>
            <a:endParaRPr b="0" i="0" sz="1700" u="none" cap="none" strike="noStrike">
              <a:solidFill>
                <a:schemeClr val="dk1"/>
              </a:solidFill>
              <a:latin typeface="DM Sans"/>
              <a:ea typeface="DM Sans"/>
              <a:cs typeface="DM Sans"/>
              <a:sym typeface="DM Sans"/>
            </a:endParaRPr>
          </a:p>
        </p:txBody>
      </p:sp>
      <p:sp>
        <p:nvSpPr>
          <p:cNvPr id="82" name="Google Shape;82;p4"/>
          <p:cNvSpPr/>
          <p:nvPr/>
        </p:nvSpPr>
        <p:spPr>
          <a:xfrm>
            <a:off x="9349383" y="3001908"/>
            <a:ext cx="1881509" cy="718668"/>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FC6C2"/>
              </a:buClr>
              <a:buSzPts val="1300"/>
              <a:buFont typeface="DM Sans"/>
              <a:buNone/>
            </a:pPr>
            <a:r>
              <a:rPr b="0" i="0" lang="en-US" sz="1300" u="none" cap="none" strike="noStrike">
                <a:solidFill>
                  <a:srgbClr val="CFC6C2"/>
                </a:solidFill>
                <a:latin typeface="DM Sans"/>
                <a:ea typeface="DM Sans"/>
                <a:cs typeface="DM Sans"/>
                <a:sym typeface="DM Sans"/>
              </a:rPr>
              <a:t>Estimativa exibida junto com a explicação do cálculo.</a:t>
            </a:r>
            <a:endParaRPr b="0" i="0" sz="1300" u="none" cap="none" strike="noStrike">
              <a:solidFill>
                <a:schemeClr val="dk1"/>
              </a:solidFill>
              <a:latin typeface="DM Sans"/>
              <a:ea typeface="DM Sans"/>
              <a:cs typeface="DM Sans"/>
              <a:sym typeface="DM Sans"/>
            </a:endParaRPr>
          </a:p>
        </p:txBody>
      </p:sp>
      <p:sp>
        <p:nvSpPr>
          <p:cNvPr id="83" name="Google Shape;83;p4"/>
          <p:cNvSpPr/>
          <p:nvPr/>
        </p:nvSpPr>
        <p:spPr>
          <a:xfrm>
            <a:off x="819132" y="4375852"/>
            <a:ext cx="10553736" cy="772210"/>
          </a:xfrm>
          <a:prstGeom prst="roundRect">
            <a:avLst>
              <a:gd fmla="val 15624" name="adj"/>
            </a:avLst>
          </a:prstGeom>
          <a:solidFill>
            <a:srgbClr val="FFF1EF"/>
          </a:solidFill>
          <a:ln cap="flat" cmpd="sng" w="12700">
            <a:solidFill>
              <a:srgbClr val="C8202F"/>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Warning" id="84" name="Google Shape;84;p4"/>
          <p:cNvPicPr preferRelativeResize="0"/>
          <p:nvPr/>
        </p:nvPicPr>
        <p:blipFill rotWithShape="1">
          <a:blip r:embed="rId4">
            <a:alphaModFix/>
          </a:blip>
          <a:srcRect b="0" l="0" r="0" t="0"/>
          <a:stretch/>
        </p:blipFill>
        <p:spPr>
          <a:xfrm>
            <a:off x="1078327" y="4584176"/>
            <a:ext cx="355564" cy="355564"/>
          </a:xfrm>
          <a:prstGeom prst="rect">
            <a:avLst/>
          </a:prstGeom>
          <a:noFill/>
          <a:ln>
            <a:noFill/>
          </a:ln>
        </p:spPr>
      </p:pic>
      <p:sp>
        <p:nvSpPr>
          <p:cNvPr id="85" name="Google Shape;85;p4"/>
          <p:cNvSpPr/>
          <p:nvPr/>
        </p:nvSpPr>
        <p:spPr>
          <a:xfrm>
            <a:off x="1611673" y="4628645"/>
            <a:ext cx="9387428" cy="292028"/>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E1A1B"/>
              </a:buClr>
              <a:buSzPts val="1500"/>
              <a:buFont typeface="DM Sans"/>
              <a:buNone/>
            </a:pPr>
            <a:r>
              <a:rPr b="1" i="0" lang="en-US" sz="1500" u="none" cap="none" strike="noStrike">
                <a:solidFill>
                  <a:srgbClr val="1E1A1B"/>
                </a:solidFill>
                <a:latin typeface="DM Sans"/>
                <a:ea typeface="DM Sans"/>
                <a:cs typeface="DM Sans"/>
                <a:sym typeface="DM Sans"/>
              </a:rPr>
              <a:t>Sem confiança suficiente?</a:t>
            </a:r>
            <a:r>
              <a:rPr b="0" i="0" lang="en-US" sz="1500" u="none" cap="none" strike="noStrike">
                <a:solidFill>
                  <a:srgbClr val="1E1A1B"/>
                </a:solidFill>
                <a:latin typeface="DM Sans"/>
                <a:ea typeface="DM Sans"/>
                <a:cs typeface="DM Sans"/>
                <a:sym typeface="DM Sans"/>
              </a:rPr>
              <a:t> O modelo não exibe os valores e apresenta uma justificativa.</a:t>
            </a:r>
            <a:endParaRPr b="0" i="0" sz="1500" u="none" cap="none" strike="noStrike">
              <a:solidFill>
                <a:schemeClr val="dk1"/>
              </a:solidFill>
              <a:latin typeface="DM Sans"/>
              <a:ea typeface="DM Sans"/>
              <a:cs typeface="DM Sans"/>
              <a:sym typeface="DM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6F1"/>
        </a:solidFill>
      </p:bgPr>
    </p:bg>
    <p:spTree>
      <p:nvGrpSpPr>
        <p:cNvPr id="90" name="Shape 90"/>
        <p:cNvGrpSpPr/>
        <p:nvPr/>
      </p:nvGrpSpPr>
      <p:grpSpPr>
        <a:xfrm>
          <a:off x="0" y="0"/>
          <a:ext cx="0" cy="0"/>
          <a:chOff x="0" y="0"/>
          <a:chExt cx="0" cy="0"/>
        </a:xfrm>
      </p:grpSpPr>
      <p:sp>
        <p:nvSpPr>
          <p:cNvPr id="91" name="Google Shape;91;p5"/>
          <p:cNvSpPr/>
          <p:nvPr/>
        </p:nvSpPr>
        <p:spPr>
          <a:xfrm>
            <a:off x="812782" y="812781"/>
            <a:ext cx="10883429" cy="23881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8202F"/>
              </a:buClr>
              <a:buSzPts val="1200"/>
              <a:buFont typeface="DM Sans"/>
              <a:buNone/>
            </a:pPr>
            <a:r>
              <a:rPr b="1" i="0" lang="en-US" sz="1200" u="none" cap="none" strike="noStrike">
                <a:solidFill>
                  <a:srgbClr val="C8202F"/>
                </a:solidFill>
                <a:latin typeface="DM Sans"/>
                <a:ea typeface="DM Sans"/>
                <a:cs typeface="DM Sans"/>
                <a:sym typeface="DM Sans"/>
              </a:rPr>
              <a:t>POR QUE UM MÉTODO DIFERENTE</a:t>
            </a:r>
            <a:endParaRPr b="0" i="0" sz="1200" u="none" cap="none" strike="noStrike">
              <a:solidFill>
                <a:schemeClr val="dk1"/>
              </a:solidFill>
              <a:latin typeface="DM Sans"/>
              <a:ea typeface="DM Sans"/>
              <a:cs typeface="DM Sans"/>
              <a:sym typeface="DM Sans"/>
            </a:endParaRPr>
          </a:p>
        </p:txBody>
      </p:sp>
      <p:sp>
        <p:nvSpPr>
          <p:cNvPr id="92" name="Google Shape;92;p5"/>
          <p:cNvSpPr txBox="1"/>
          <p:nvPr>
            <p:ph type="title"/>
          </p:nvPr>
        </p:nvSpPr>
        <p:spPr>
          <a:xfrm>
            <a:off x="812782" y="1127754"/>
            <a:ext cx="9810750" cy="960041"/>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1E1A1B"/>
              </a:buClr>
              <a:buSzPts val="3200"/>
              <a:buFont typeface="Rubik"/>
              <a:buNone/>
            </a:pPr>
            <a:r>
              <a:rPr b="1" i="0" lang="en-US" sz="3200">
                <a:solidFill>
                  <a:srgbClr val="1E1A1B"/>
                </a:solidFill>
                <a:latin typeface="Rubik"/>
                <a:ea typeface="Rubik"/>
                <a:cs typeface="Rubik"/>
                <a:sym typeface="Rubik"/>
              </a:rPr>
              <a:t>Apps como o MyFitnessPal dependem de dados nem sempre precisos</a:t>
            </a:r>
            <a:endParaRPr sz="3200"/>
          </a:p>
        </p:txBody>
      </p:sp>
      <p:sp>
        <p:nvSpPr>
          <p:cNvPr id="93" name="Google Shape;93;p5"/>
          <p:cNvSpPr/>
          <p:nvPr/>
        </p:nvSpPr>
        <p:spPr>
          <a:xfrm>
            <a:off x="815957" y="2421136"/>
            <a:ext cx="5175304" cy="2212001"/>
          </a:xfrm>
          <a:prstGeom prst="roundRect">
            <a:avLst>
              <a:gd fmla="val 6746" name="adj"/>
            </a:avLst>
          </a:prstGeom>
          <a:solidFill>
            <a:srgbClr val="FFFFFF"/>
          </a:solidFill>
          <a:ln cap="flat" cmpd="sng" w="9525">
            <a:solidFill>
              <a:srgbClr val="E8DF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sers" id="94" name="Google Shape;94;p5"/>
          <p:cNvPicPr preferRelativeResize="0"/>
          <p:nvPr/>
        </p:nvPicPr>
        <p:blipFill rotWithShape="1">
          <a:blip r:embed="rId3">
            <a:alphaModFix/>
          </a:blip>
          <a:srcRect b="0" l="0" r="0" t="0"/>
          <a:stretch/>
        </p:blipFill>
        <p:spPr>
          <a:xfrm>
            <a:off x="1097901" y="2703078"/>
            <a:ext cx="355564" cy="355564"/>
          </a:xfrm>
          <a:prstGeom prst="rect">
            <a:avLst/>
          </a:prstGeom>
          <a:noFill/>
          <a:ln>
            <a:noFill/>
          </a:ln>
        </p:spPr>
      </p:pic>
      <p:sp>
        <p:nvSpPr>
          <p:cNvPr id="95" name="Google Shape;95;p5"/>
          <p:cNvSpPr/>
          <p:nvPr/>
        </p:nvSpPr>
        <p:spPr>
          <a:xfrm>
            <a:off x="1097901" y="3160207"/>
            <a:ext cx="4749759" cy="314938"/>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E1A1B"/>
              </a:buClr>
              <a:buSzPts val="1900"/>
              <a:buFont typeface="Rubik"/>
              <a:buNone/>
            </a:pPr>
            <a:r>
              <a:rPr b="1" i="0" lang="en-US" sz="1900" u="none" cap="none" strike="noStrike">
                <a:solidFill>
                  <a:srgbClr val="1E1A1B"/>
                </a:solidFill>
                <a:latin typeface="Rubik"/>
                <a:ea typeface="Rubik"/>
                <a:cs typeface="Rubik"/>
                <a:sym typeface="Rubik"/>
              </a:rPr>
              <a:t>Base colaborativa</a:t>
            </a:r>
            <a:endParaRPr b="0" i="0" sz="1900" u="none" cap="none" strike="noStrike">
              <a:solidFill>
                <a:schemeClr val="dk1"/>
              </a:solidFill>
              <a:latin typeface="DM Sans"/>
              <a:ea typeface="DM Sans"/>
              <a:cs typeface="DM Sans"/>
              <a:sym typeface="DM Sans"/>
            </a:endParaRPr>
          </a:p>
        </p:txBody>
      </p:sp>
      <p:sp>
        <p:nvSpPr>
          <p:cNvPr id="96" name="Google Shape;96;p5"/>
          <p:cNvSpPr/>
          <p:nvPr/>
        </p:nvSpPr>
        <p:spPr>
          <a:xfrm>
            <a:off x="1097901" y="3551309"/>
            <a:ext cx="4749759" cy="825283"/>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F4648"/>
              </a:buClr>
              <a:buSzPts val="1500"/>
              <a:buFont typeface="DM Sans"/>
              <a:buNone/>
            </a:pPr>
            <a:r>
              <a:rPr b="0" i="0" lang="en-US" sz="1500" u="none" cap="none" strike="noStrike">
                <a:solidFill>
                  <a:srgbClr val="4F4648"/>
                </a:solidFill>
                <a:latin typeface="DM Sans"/>
                <a:ea typeface="DM Sans"/>
                <a:cs typeface="DM Sans"/>
                <a:sym typeface="DM Sans"/>
              </a:rPr>
              <a:t>Grande parte dos alimentos é cadastrada pelos próprios usuários, e o mesmo item pode ter valores diferentes.</a:t>
            </a:r>
            <a:endParaRPr b="0" i="0" sz="1500" u="none" cap="none" strike="noStrike">
              <a:solidFill>
                <a:schemeClr val="dk1"/>
              </a:solidFill>
              <a:latin typeface="DM Sans"/>
              <a:ea typeface="DM Sans"/>
              <a:cs typeface="DM Sans"/>
              <a:sym typeface="DM Sans"/>
            </a:endParaRPr>
          </a:p>
        </p:txBody>
      </p:sp>
      <p:sp>
        <p:nvSpPr>
          <p:cNvPr id="97" name="Google Shape;97;p5"/>
          <p:cNvSpPr/>
          <p:nvPr/>
        </p:nvSpPr>
        <p:spPr>
          <a:xfrm>
            <a:off x="6200739" y="2421136"/>
            <a:ext cx="5175304" cy="2212001"/>
          </a:xfrm>
          <a:prstGeom prst="roundRect">
            <a:avLst>
              <a:gd fmla="val 6746" name="adj"/>
            </a:avLst>
          </a:prstGeom>
          <a:solidFill>
            <a:srgbClr val="FFFFFF"/>
          </a:solidFill>
          <a:ln cap="flat" cmpd="sng" w="9525">
            <a:solidFill>
              <a:srgbClr val="E8DF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arch" id="98" name="Google Shape;98;p5"/>
          <p:cNvPicPr preferRelativeResize="0"/>
          <p:nvPr/>
        </p:nvPicPr>
        <p:blipFill rotWithShape="1">
          <a:blip r:embed="rId4">
            <a:alphaModFix/>
          </a:blip>
          <a:srcRect b="0" l="0" r="0" t="0"/>
          <a:stretch/>
        </p:blipFill>
        <p:spPr>
          <a:xfrm>
            <a:off x="6482682" y="2703078"/>
            <a:ext cx="355564" cy="355564"/>
          </a:xfrm>
          <a:prstGeom prst="rect">
            <a:avLst/>
          </a:prstGeom>
          <a:noFill/>
          <a:ln>
            <a:noFill/>
          </a:ln>
        </p:spPr>
      </p:pic>
      <p:sp>
        <p:nvSpPr>
          <p:cNvPr id="99" name="Google Shape;99;p5"/>
          <p:cNvSpPr/>
          <p:nvPr/>
        </p:nvSpPr>
        <p:spPr>
          <a:xfrm>
            <a:off x="6482682" y="3160207"/>
            <a:ext cx="4749759" cy="314938"/>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E1A1B"/>
              </a:buClr>
              <a:buSzPts val="1900"/>
              <a:buFont typeface="Rubik"/>
              <a:buNone/>
            </a:pPr>
            <a:r>
              <a:rPr b="1" i="0" lang="en-US" sz="1900" u="none" cap="none" strike="noStrike">
                <a:solidFill>
                  <a:srgbClr val="1E1A1B"/>
                </a:solidFill>
                <a:latin typeface="Rubik"/>
                <a:ea typeface="Rubik"/>
                <a:cs typeface="Rubik"/>
                <a:sym typeface="Rubik"/>
              </a:rPr>
              <a:t>Imprecisão no peso</a:t>
            </a:r>
            <a:endParaRPr b="0" i="0" sz="1900" u="none" cap="none" strike="noStrike">
              <a:solidFill>
                <a:schemeClr val="dk1"/>
              </a:solidFill>
              <a:latin typeface="DM Sans"/>
              <a:ea typeface="DM Sans"/>
              <a:cs typeface="DM Sans"/>
              <a:sym typeface="DM Sans"/>
            </a:endParaRPr>
          </a:p>
        </p:txBody>
      </p:sp>
      <p:sp>
        <p:nvSpPr>
          <p:cNvPr id="100" name="Google Shape;100;p5"/>
          <p:cNvSpPr/>
          <p:nvPr/>
        </p:nvSpPr>
        <p:spPr>
          <a:xfrm>
            <a:off x="6482682" y="3551309"/>
            <a:ext cx="4749759" cy="558656"/>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F4648"/>
              </a:buClr>
              <a:buSzPts val="1500"/>
              <a:buFont typeface="DM Sans"/>
              <a:buNone/>
            </a:pPr>
            <a:r>
              <a:rPr b="0" i="0" lang="en-US" sz="1500" u="none" cap="none" strike="noStrike">
                <a:solidFill>
                  <a:srgbClr val="4F4648"/>
                </a:solidFill>
                <a:latin typeface="DM Sans"/>
                <a:ea typeface="DM Sans"/>
                <a:cs typeface="DM Sans"/>
                <a:sym typeface="DM Sans"/>
              </a:rPr>
              <a:t>Muitas vezes a pesagem pode ser equivocada ou omitir valores.</a:t>
            </a:r>
            <a:endParaRPr b="0" i="0" sz="1500" u="none" cap="none" strike="noStrike">
              <a:solidFill>
                <a:schemeClr val="dk1"/>
              </a:solidFill>
              <a:latin typeface="DM Sans"/>
              <a:ea typeface="DM Sans"/>
              <a:cs typeface="DM Sans"/>
              <a:sym typeface="DM Sans"/>
            </a:endParaRPr>
          </a:p>
        </p:txBody>
      </p:sp>
      <p:sp>
        <p:nvSpPr>
          <p:cNvPr id="101" name="Google Shape;101;p5"/>
          <p:cNvSpPr/>
          <p:nvPr/>
        </p:nvSpPr>
        <p:spPr>
          <a:xfrm>
            <a:off x="812782" y="4991875"/>
            <a:ext cx="10883429" cy="368246"/>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1E1A1B"/>
              </a:buClr>
              <a:buSzPts val="2000"/>
              <a:buFont typeface="DM Sans"/>
              <a:buNone/>
            </a:pPr>
            <a:r>
              <a:rPr b="0" i="0" lang="en-US" sz="2000" u="none" cap="none" strike="noStrike">
                <a:solidFill>
                  <a:srgbClr val="1E1A1B"/>
                </a:solidFill>
                <a:latin typeface="DM Sans"/>
                <a:ea typeface="DM Sans"/>
                <a:cs typeface="DM Sans"/>
                <a:sym typeface="DM Sans"/>
              </a:rPr>
              <a:t>Por isso usamos </a:t>
            </a:r>
            <a:r>
              <a:rPr b="1" i="0" lang="en-US" sz="2000" u="none" cap="none" strike="noStrike">
                <a:solidFill>
                  <a:srgbClr val="C8202F"/>
                </a:solidFill>
                <a:latin typeface="DM Sans"/>
                <a:ea typeface="DM Sans"/>
                <a:cs typeface="DM Sans"/>
                <a:sym typeface="DM Sans"/>
              </a:rPr>
              <a:t>abordagens diferentes:</a:t>
            </a:r>
            <a:endParaRPr b="0" i="0" sz="2000" u="none" cap="none" strike="noStrike">
              <a:solidFill>
                <a:schemeClr val="dk1"/>
              </a:solidFill>
              <a:latin typeface="DM Sans"/>
              <a:ea typeface="DM Sans"/>
              <a:cs typeface="DM Sans"/>
              <a:sym typeface="DM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6" name="Shape 106"/>
        <p:cNvGrpSpPr/>
        <p:nvPr/>
      </p:nvGrpSpPr>
      <p:grpSpPr>
        <a:xfrm>
          <a:off x="0" y="0"/>
          <a:ext cx="0" cy="0"/>
          <a:chOff x="0" y="0"/>
          <a:chExt cx="0" cy="0"/>
        </a:xfrm>
      </p:grpSpPr>
      <p:sp>
        <p:nvSpPr>
          <p:cNvPr id="107" name="Google Shape;107;h1e918fe9f13658b9_0_3"/>
          <p:cNvSpPr/>
          <p:nvPr/>
        </p:nvSpPr>
        <p:spPr>
          <a:xfrm>
            <a:off x="349250" y="349250"/>
            <a:ext cx="9842700" cy="507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700">
                <a:solidFill>
                  <a:srgbClr val="172438"/>
                </a:solidFill>
                <a:latin typeface="Noto Sans"/>
                <a:ea typeface="Noto Sans"/>
                <a:cs typeface="Noto Sans"/>
                <a:sym typeface="Noto Sans"/>
              </a:rPr>
              <a:t>Pipeline de cálculo de nutrientes</a:t>
            </a:r>
            <a:endParaRPr sz="900"/>
          </a:p>
        </p:txBody>
      </p:sp>
      <p:sp>
        <p:nvSpPr>
          <p:cNvPr id="108" name="Google Shape;108;h1e918fe9f13658b9_0_3"/>
          <p:cNvSpPr/>
          <p:nvPr/>
        </p:nvSpPr>
        <p:spPr>
          <a:xfrm>
            <a:off x="349250" y="889000"/>
            <a:ext cx="9525000" cy="28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400">
                <a:solidFill>
                  <a:srgbClr val="5B6678"/>
                </a:solidFill>
                <a:latin typeface="Noto Sans"/>
                <a:ea typeface="Noto Sans"/>
                <a:cs typeface="Noto Sans"/>
                <a:sym typeface="Noto Sans"/>
              </a:rPr>
              <a:t>Fontes nutricionais e estimativas de IA, com validação e reutilização de resultados</a:t>
            </a:r>
            <a:endParaRPr sz="900"/>
          </a:p>
        </p:txBody>
      </p:sp>
      <p:sp>
        <p:nvSpPr>
          <p:cNvPr id="109" name="Google Shape;109;h1e918fe9f13658b9_0_3"/>
          <p:cNvSpPr/>
          <p:nvPr/>
        </p:nvSpPr>
        <p:spPr>
          <a:xfrm>
            <a:off x="10858500" y="412750"/>
            <a:ext cx="1047900" cy="381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1" lang="en-US" sz="2000">
                <a:solidFill>
                  <a:srgbClr val="EA1D2C"/>
                </a:solidFill>
                <a:latin typeface="Noto Sans"/>
                <a:ea typeface="Noto Sans"/>
                <a:cs typeface="Noto Sans"/>
                <a:sym typeface="Noto Sans"/>
              </a:rPr>
              <a:t>macro.</a:t>
            </a:r>
            <a:endParaRPr sz="900"/>
          </a:p>
        </p:txBody>
      </p:sp>
      <p:sp>
        <p:nvSpPr>
          <p:cNvPr id="110" name="Google Shape;110;h1e918fe9f13658b9_0_3"/>
          <p:cNvSpPr/>
          <p:nvPr/>
        </p:nvSpPr>
        <p:spPr>
          <a:xfrm>
            <a:off x="285750" y="3175000"/>
            <a:ext cx="1333500" cy="698700"/>
          </a:xfrm>
          <a:prstGeom prst="roundRect">
            <a:avLst>
              <a:gd fmla="val 12727" name="adj"/>
            </a:avLst>
          </a:prstGeom>
          <a:solidFill>
            <a:srgbClr val="DBEAFE"/>
          </a:solidFill>
          <a:ln cap="flat" cmpd="sng" w="12700">
            <a:solidFill>
              <a:srgbClr val="2563EB"/>
            </a:solidFill>
            <a:prstDash val="solid"/>
            <a:round/>
            <a:headEnd len="sm" w="sm" type="none"/>
            <a:tailEnd len="sm" w="sm" type="none"/>
          </a:ln>
        </p:spPr>
        <p:txBody>
          <a:bodyPr anchorCtr="0" anchor="ctr" bIns="63500" lIns="63500" spcFirstLastPara="1" rIns="63500" wrap="square" tIns="63500">
            <a:noAutofit/>
          </a:bodyPr>
          <a:lstStyle/>
          <a:p>
            <a:pPr indent="0" lvl="0" marL="0" marR="0" rtl="0" algn="ctr">
              <a:spcBef>
                <a:spcPts val="0"/>
              </a:spcBef>
              <a:spcAft>
                <a:spcPts val="0"/>
              </a:spcAft>
              <a:buNone/>
            </a:pPr>
            <a:r>
              <a:rPr b="1" lang="en-US" sz="1100">
                <a:solidFill>
                  <a:srgbClr val="172554"/>
                </a:solidFill>
                <a:latin typeface="Noto Sans"/>
                <a:ea typeface="Noto Sans"/>
                <a:cs typeface="Noto Sans"/>
                <a:sym typeface="Noto Sans"/>
              </a:rPr>
              <a:t>Prato e</a:t>
            </a:r>
            <a:endParaRPr sz="900"/>
          </a:p>
          <a:p>
            <a:pPr indent="0" lvl="0" marL="0" marR="0" rtl="0" algn="ctr">
              <a:spcBef>
                <a:spcPts val="0"/>
              </a:spcBef>
              <a:spcAft>
                <a:spcPts val="0"/>
              </a:spcAft>
              <a:buNone/>
            </a:pPr>
            <a:r>
              <a:rPr b="1" lang="en-US" sz="1100">
                <a:solidFill>
                  <a:srgbClr val="172554"/>
                </a:solidFill>
                <a:latin typeface="Noto Sans"/>
                <a:ea typeface="Noto Sans"/>
                <a:cs typeface="Noto Sans"/>
                <a:sym typeface="Noto Sans"/>
              </a:rPr>
              <a:t>complementos</a:t>
            </a:r>
            <a:endParaRPr sz="900"/>
          </a:p>
        </p:txBody>
      </p:sp>
      <p:sp>
        <p:nvSpPr>
          <p:cNvPr id="111" name="Google Shape;111;h1e918fe9f13658b9_0_3"/>
          <p:cNvSpPr/>
          <p:nvPr/>
        </p:nvSpPr>
        <p:spPr>
          <a:xfrm>
            <a:off x="1841500" y="3175000"/>
            <a:ext cx="1016100" cy="698700"/>
          </a:xfrm>
          <a:prstGeom prst="diamond">
            <a:avLst/>
          </a:prstGeom>
          <a:solidFill>
            <a:srgbClr val="FEF3C7"/>
          </a:solidFill>
          <a:ln cap="flat" cmpd="sng" w="12700">
            <a:solidFill>
              <a:srgbClr val="D97706"/>
            </a:solidFill>
            <a:prstDash val="solid"/>
            <a:round/>
            <a:headEnd len="sm" w="sm" type="none"/>
            <a:tailEnd len="sm" w="sm" type="none"/>
          </a:ln>
        </p:spPr>
        <p:txBody>
          <a:bodyPr anchorCtr="0" anchor="ctr" bIns="63500" lIns="63500" spcFirstLastPara="1" rIns="63500" wrap="square" tIns="63500">
            <a:noAutofit/>
          </a:bodyPr>
          <a:lstStyle/>
          <a:p>
            <a:pPr indent="0" lvl="0" marL="0" marR="0" rtl="0" algn="ctr">
              <a:spcBef>
                <a:spcPts val="0"/>
              </a:spcBef>
              <a:spcAft>
                <a:spcPts val="0"/>
              </a:spcAft>
              <a:buNone/>
            </a:pPr>
            <a:r>
              <a:t/>
            </a:r>
            <a:endParaRPr b="1" sz="1100">
              <a:solidFill>
                <a:srgbClr val="78350F"/>
              </a:solidFill>
              <a:latin typeface="Noto Sans"/>
              <a:ea typeface="Noto Sans"/>
              <a:cs typeface="Noto Sans"/>
              <a:sym typeface="Noto Sans"/>
            </a:endParaRPr>
          </a:p>
        </p:txBody>
      </p:sp>
      <p:sp>
        <p:nvSpPr>
          <p:cNvPr id="112" name="Google Shape;112;h1e918fe9f13658b9_0_3"/>
          <p:cNvSpPr/>
          <p:nvPr/>
        </p:nvSpPr>
        <p:spPr>
          <a:xfrm>
            <a:off x="1841500" y="3270250"/>
            <a:ext cx="1016100" cy="507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100">
                <a:solidFill>
                  <a:srgbClr val="78350F"/>
                </a:solidFill>
                <a:latin typeface="Noto Sans"/>
                <a:ea typeface="Noto Sans"/>
                <a:cs typeface="Noto Sans"/>
                <a:sym typeface="Noto Sans"/>
              </a:rPr>
              <a:t>Resultado</a:t>
            </a:r>
            <a:endParaRPr sz="900"/>
          </a:p>
          <a:p>
            <a:pPr indent="0" lvl="0" marL="0" marR="0" rtl="0" algn="ctr">
              <a:spcBef>
                <a:spcPts val="0"/>
              </a:spcBef>
              <a:spcAft>
                <a:spcPts val="0"/>
              </a:spcAft>
              <a:buNone/>
            </a:pPr>
            <a:r>
              <a:rPr b="1" lang="en-US" sz="1100">
                <a:solidFill>
                  <a:srgbClr val="78350F"/>
                </a:solidFill>
                <a:latin typeface="Noto Sans"/>
                <a:ea typeface="Noto Sans"/>
                <a:cs typeface="Noto Sans"/>
                <a:sym typeface="Noto Sans"/>
              </a:rPr>
              <a:t>no cache?</a:t>
            </a:r>
            <a:endParaRPr sz="900"/>
          </a:p>
        </p:txBody>
      </p:sp>
      <p:sp>
        <p:nvSpPr>
          <p:cNvPr id="113" name="Google Shape;113;h1e918fe9f13658b9_0_3"/>
          <p:cNvSpPr/>
          <p:nvPr/>
        </p:nvSpPr>
        <p:spPr>
          <a:xfrm>
            <a:off x="3206750" y="3175000"/>
            <a:ext cx="1111200" cy="698700"/>
          </a:xfrm>
          <a:prstGeom prst="roundRect">
            <a:avLst>
              <a:gd fmla="val 12727" name="adj"/>
            </a:avLst>
          </a:prstGeom>
          <a:solidFill>
            <a:srgbClr val="CCFBF1"/>
          </a:solidFill>
          <a:ln cap="flat" cmpd="sng" w="12700">
            <a:solidFill>
              <a:srgbClr val="0D9488"/>
            </a:solidFill>
            <a:prstDash val="solid"/>
            <a:round/>
            <a:headEnd len="sm" w="sm" type="none"/>
            <a:tailEnd len="sm" w="sm" type="none"/>
          </a:ln>
        </p:spPr>
        <p:txBody>
          <a:bodyPr anchorCtr="0" anchor="ctr" bIns="63500" lIns="63500" spcFirstLastPara="1" rIns="63500" wrap="square" tIns="63500">
            <a:noAutofit/>
          </a:bodyPr>
          <a:lstStyle/>
          <a:p>
            <a:pPr indent="0" lvl="0" marL="0" marR="0" rtl="0" algn="ctr">
              <a:spcBef>
                <a:spcPts val="0"/>
              </a:spcBef>
              <a:spcAft>
                <a:spcPts val="0"/>
              </a:spcAft>
              <a:buNone/>
            </a:pPr>
            <a:r>
              <a:rPr b="1" lang="en-US" sz="1100">
                <a:solidFill>
                  <a:srgbClr val="134E4A"/>
                </a:solidFill>
                <a:latin typeface="Noto Sans"/>
                <a:ea typeface="Noto Sans"/>
                <a:cs typeface="Noto Sans"/>
                <a:sym typeface="Noto Sans"/>
              </a:rPr>
              <a:t>Consultar</a:t>
            </a:r>
            <a:endParaRPr sz="900"/>
          </a:p>
          <a:p>
            <a:pPr indent="0" lvl="0" marL="0" marR="0" rtl="0" algn="ctr">
              <a:spcBef>
                <a:spcPts val="0"/>
              </a:spcBef>
              <a:spcAft>
                <a:spcPts val="0"/>
              </a:spcAft>
              <a:buNone/>
            </a:pPr>
            <a:r>
              <a:rPr b="1" lang="en-US" sz="1100">
                <a:solidFill>
                  <a:srgbClr val="134E4A"/>
                </a:solidFill>
                <a:latin typeface="Noto Sans"/>
                <a:ea typeface="Noto Sans"/>
                <a:cs typeface="Noto Sans"/>
                <a:sym typeface="Noto Sans"/>
              </a:rPr>
              <a:t>fontes</a:t>
            </a:r>
            <a:endParaRPr sz="900"/>
          </a:p>
        </p:txBody>
      </p:sp>
      <p:sp>
        <p:nvSpPr>
          <p:cNvPr id="114" name="Google Shape;114;h1e918fe9f13658b9_0_3"/>
          <p:cNvSpPr/>
          <p:nvPr/>
        </p:nvSpPr>
        <p:spPr>
          <a:xfrm>
            <a:off x="4794250" y="1778000"/>
            <a:ext cx="1524000" cy="698700"/>
          </a:xfrm>
          <a:prstGeom prst="roundRect">
            <a:avLst>
              <a:gd fmla="val 12727" name="adj"/>
            </a:avLst>
          </a:prstGeom>
          <a:solidFill>
            <a:srgbClr val="CCFBF1"/>
          </a:solidFill>
          <a:ln cap="flat" cmpd="sng" w="12700">
            <a:solidFill>
              <a:srgbClr val="0D9488"/>
            </a:solidFill>
            <a:prstDash val="solid"/>
            <a:round/>
            <a:headEnd len="sm" w="sm" type="none"/>
            <a:tailEnd len="sm" w="sm" type="none"/>
          </a:ln>
        </p:spPr>
        <p:txBody>
          <a:bodyPr anchorCtr="0" anchor="ctr" bIns="63500" lIns="63500" spcFirstLastPara="1" rIns="63500" wrap="square" tIns="63500">
            <a:noAutofit/>
          </a:bodyPr>
          <a:lstStyle/>
          <a:p>
            <a:pPr indent="0" lvl="0" marL="0" marR="0" rtl="0" algn="ctr">
              <a:spcBef>
                <a:spcPts val="0"/>
              </a:spcBef>
              <a:spcAft>
                <a:spcPts val="0"/>
              </a:spcAft>
              <a:buNone/>
            </a:pPr>
            <a:r>
              <a:rPr b="1" lang="en-US" sz="1100">
                <a:solidFill>
                  <a:srgbClr val="134E4A"/>
                </a:solidFill>
                <a:latin typeface="Noto Sans"/>
                <a:ea typeface="Noto Sans"/>
                <a:cs typeface="Noto Sans"/>
                <a:sym typeface="Noto Sans"/>
              </a:rPr>
              <a:t>Bases de dados</a:t>
            </a:r>
            <a:endParaRPr sz="900"/>
          </a:p>
          <a:p>
            <a:pPr indent="0" lvl="0" marL="0" marR="0" rtl="0" algn="ctr">
              <a:spcBef>
                <a:spcPts val="0"/>
              </a:spcBef>
              <a:spcAft>
                <a:spcPts val="0"/>
              </a:spcAft>
              <a:buNone/>
            </a:pPr>
            <a:r>
              <a:rPr b="1" lang="en-US" sz="1100">
                <a:solidFill>
                  <a:srgbClr val="134E4A"/>
                </a:solidFill>
                <a:latin typeface="Noto Sans"/>
                <a:ea typeface="Noto Sans"/>
                <a:cs typeface="Noto Sans"/>
                <a:sym typeface="Noto Sans"/>
              </a:rPr>
              <a:t>Produtos e TACO</a:t>
            </a:r>
            <a:endParaRPr sz="900"/>
          </a:p>
        </p:txBody>
      </p:sp>
      <p:sp>
        <p:nvSpPr>
          <p:cNvPr id="115" name="Google Shape;115;h1e918fe9f13658b9_0_3"/>
          <p:cNvSpPr/>
          <p:nvPr/>
        </p:nvSpPr>
        <p:spPr>
          <a:xfrm>
            <a:off x="4794250" y="2794000"/>
            <a:ext cx="1524000" cy="698700"/>
          </a:xfrm>
          <a:prstGeom prst="roundRect">
            <a:avLst>
              <a:gd fmla="val 12727" name="adj"/>
            </a:avLst>
          </a:prstGeom>
          <a:solidFill>
            <a:srgbClr val="CCFBF1"/>
          </a:solidFill>
          <a:ln cap="flat" cmpd="sng" w="12700">
            <a:solidFill>
              <a:srgbClr val="0D9488"/>
            </a:solidFill>
            <a:prstDash val="solid"/>
            <a:round/>
            <a:headEnd len="sm" w="sm" type="none"/>
            <a:tailEnd len="sm" w="sm" type="none"/>
          </a:ln>
        </p:spPr>
        <p:txBody>
          <a:bodyPr anchorCtr="0" anchor="ctr" bIns="63500" lIns="63500" spcFirstLastPara="1" rIns="63500" wrap="square" tIns="63500">
            <a:noAutofit/>
          </a:bodyPr>
          <a:lstStyle/>
          <a:p>
            <a:pPr indent="0" lvl="0" marL="0" marR="0" rtl="0" algn="ctr">
              <a:spcBef>
                <a:spcPts val="0"/>
              </a:spcBef>
              <a:spcAft>
                <a:spcPts val="0"/>
              </a:spcAft>
              <a:buNone/>
            </a:pPr>
            <a:r>
              <a:rPr b="1" lang="en-US" sz="1100">
                <a:solidFill>
                  <a:srgbClr val="134E4A"/>
                </a:solidFill>
                <a:latin typeface="Noto Sans"/>
                <a:ea typeface="Noto Sans"/>
                <a:cs typeface="Noto Sans"/>
                <a:sym typeface="Noto Sans"/>
              </a:rPr>
              <a:t>Busca na web</a:t>
            </a:r>
            <a:endParaRPr sz="900"/>
          </a:p>
        </p:txBody>
      </p:sp>
      <p:sp>
        <p:nvSpPr>
          <p:cNvPr id="116" name="Google Shape;116;h1e918fe9f13658b9_0_3"/>
          <p:cNvSpPr/>
          <p:nvPr/>
        </p:nvSpPr>
        <p:spPr>
          <a:xfrm>
            <a:off x="4794250" y="3810000"/>
            <a:ext cx="1524000" cy="698700"/>
          </a:xfrm>
          <a:prstGeom prst="roundRect">
            <a:avLst>
              <a:gd fmla="val 12727" name="adj"/>
            </a:avLst>
          </a:prstGeom>
          <a:solidFill>
            <a:srgbClr val="EDE9FE"/>
          </a:solidFill>
          <a:ln cap="flat" cmpd="sng" w="12700">
            <a:solidFill>
              <a:srgbClr val="7C3AED"/>
            </a:solidFill>
            <a:prstDash val="solid"/>
            <a:round/>
            <a:headEnd len="sm" w="sm" type="none"/>
            <a:tailEnd len="sm" w="sm" type="none"/>
          </a:ln>
        </p:spPr>
        <p:txBody>
          <a:bodyPr anchorCtr="0" anchor="ctr" bIns="63500" lIns="63500" spcFirstLastPara="1" rIns="63500" wrap="square" tIns="63500">
            <a:noAutofit/>
          </a:bodyPr>
          <a:lstStyle/>
          <a:p>
            <a:pPr indent="0" lvl="0" marL="0" marR="0" rtl="0" algn="ctr">
              <a:spcBef>
                <a:spcPts val="0"/>
              </a:spcBef>
              <a:spcAft>
                <a:spcPts val="0"/>
              </a:spcAft>
              <a:buNone/>
            </a:pPr>
            <a:r>
              <a:rPr b="1" lang="en-US" sz="1100">
                <a:solidFill>
                  <a:srgbClr val="3B0764"/>
                </a:solidFill>
                <a:latin typeface="Noto Sans"/>
                <a:ea typeface="Noto Sans"/>
                <a:cs typeface="Noto Sans"/>
                <a:sym typeface="Noto Sans"/>
              </a:rPr>
              <a:t>Estimativas por IA</a:t>
            </a:r>
            <a:endParaRPr sz="900"/>
          </a:p>
          <a:p>
            <a:pPr indent="0" lvl="0" marL="0" marR="0" rtl="0" algn="ctr">
              <a:spcBef>
                <a:spcPts val="0"/>
              </a:spcBef>
              <a:spcAft>
                <a:spcPts val="0"/>
              </a:spcAft>
              <a:buNone/>
            </a:pPr>
            <a:r>
              <a:rPr b="1" lang="en-US" sz="1100">
                <a:solidFill>
                  <a:srgbClr val="3B0764"/>
                </a:solidFill>
                <a:latin typeface="Noto Sans"/>
                <a:ea typeface="Noto Sans"/>
                <a:cs typeface="Noto Sans"/>
                <a:sym typeface="Noto Sans"/>
              </a:rPr>
              <a:t>Texto e foto</a:t>
            </a:r>
            <a:endParaRPr sz="900"/>
          </a:p>
        </p:txBody>
      </p:sp>
      <p:sp>
        <p:nvSpPr>
          <p:cNvPr id="117" name="Google Shape;117;h1e918fe9f13658b9_0_3"/>
          <p:cNvSpPr/>
          <p:nvPr/>
        </p:nvSpPr>
        <p:spPr>
          <a:xfrm>
            <a:off x="4794250" y="4826000"/>
            <a:ext cx="1524000" cy="762000"/>
          </a:xfrm>
          <a:prstGeom prst="roundRect">
            <a:avLst>
              <a:gd fmla="val 11667" name="adj"/>
            </a:avLst>
          </a:prstGeom>
          <a:solidFill>
            <a:srgbClr val="EDE9FE"/>
          </a:solidFill>
          <a:ln cap="flat" cmpd="sng" w="12700">
            <a:solidFill>
              <a:srgbClr val="7C3AED"/>
            </a:solidFill>
            <a:prstDash val="solid"/>
            <a:round/>
            <a:headEnd len="sm" w="sm" type="none"/>
            <a:tailEnd len="sm" w="sm" type="none"/>
          </a:ln>
        </p:spPr>
        <p:txBody>
          <a:bodyPr anchorCtr="0" anchor="ctr" bIns="63500" lIns="63500" spcFirstLastPara="1" rIns="63500" wrap="square" tIns="63500">
            <a:noAutofit/>
          </a:bodyPr>
          <a:lstStyle/>
          <a:p>
            <a:pPr indent="0" lvl="0" marL="0" marR="0" rtl="0" algn="ctr">
              <a:spcBef>
                <a:spcPts val="0"/>
              </a:spcBef>
              <a:spcAft>
                <a:spcPts val="0"/>
              </a:spcAft>
              <a:buNone/>
            </a:pPr>
            <a:r>
              <a:rPr b="1" lang="en-US" sz="1100">
                <a:solidFill>
                  <a:srgbClr val="3B0764"/>
                </a:solidFill>
                <a:latin typeface="Noto Sans"/>
                <a:ea typeface="Noto Sans"/>
                <a:cs typeface="Noto Sans"/>
                <a:sym typeface="Noto Sans"/>
              </a:rPr>
              <a:t>Ingredientes</a:t>
            </a:r>
            <a:endParaRPr sz="900"/>
          </a:p>
          <a:p>
            <a:pPr indent="0" lvl="0" marL="0" marR="0" rtl="0" algn="ctr">
              <a:spcBef>
                <a:spcPts val="0"/>
              </a:spcBef>
              <a:spcAft>
                <a:spcPts val="0"/>
              </a:spcAft>
              <a:buNone/>
            </a:pPr>
            <a:r>
              <a:rPr b="1" lang="en-US" sz="1100">
                <a:solidFill>
                  <a:srgbClr val="3B0764"/>
                </a:solidFill>
                <a:latin typeface="Noto Sans"/>
                <a:ea typeface="Noto Sans"/>
                <a:cs typeface="Noto Sans"/>
                <a:sym typeface="Noto Sans"/>
              </a:rPr>
              <a:t>com apoio da TACO</a:t>
            </a:r>
            <a:endParaRPr sz="900"/>
          </a:p>
        </p:txBody>
      </p:sp>
      <p:sp>
        <p:nvSpPr>
          <p:cNvPr id="118" name="Google Shape;118;h1e918fe9f13658b9_0_3"/>
          <p:cNvSpPr/>
          <p:nvPr/>
        </p:nvSpPr>
        <p:spPr>
          <a:xfrm>
            <a:off x="6762750" y="3175000"/>
            <a:ext cx="1143000" cy="698700"/>
          </a:xfrm>
          <a:prstGeom prst="roundRect">
            <a:avLst>
              <a:gd fmla="val 12727" name="adj"/>
            </a:avLst>
          </a:prstGeom>
          <a:solidFill>
            <a:srgbClr val="FFEDD5"/>
          </a:solidFill>
          <a:ln cap="flat" cmpd="sng" w="12700">
            <a:solidFill>
              <a:srgbClr val="EA580C"/>
            </a:solidFill>
            <a:prstDash val="solid"/>
            <a:round/>
            <a:headEnd len="sm" w="sm" type="none"/>
            <a:tailEnd len="sm" w="sm" type="none"/>
          </a:ln>
        </p:spPr>
        <p:txBody>
          <a:bodyPr anchorCtr="0" anchor="ctr" bIns="63500" lIns="63500" spcFirstLastPara="1" rIns="63500" wrap="square" tIns="63500">
            <a:noAutofit/>
          </a:bodyPr>
          <a:lstStyle/>
          <a:p>
            <a:pPr indent="0" lvl="0" marL="0" marR="0" rtl="0" algn="ctr">
              <a:spcBef>
                <a:spcPts val="0"/>
              </a:spcBef>
              <a:spcAft>
                <a:spcPts val="0"/>
              </a:spcAft>
              <a:buNone/>
            </a:pPr>
            <a:r>
              <a:rPr b="1" lang="en-US" sz="1100">
                <a:solidFill>
                  <a:srgbClr val="7C2D12"/>
                </a:solidFill>
                <a:latin typeface="Noto Sans"/>
                <a:ea typeface="Noto Sans"/>
                <a:cs typeface="Noto Sans"/>
                <a:sym typeface="Noto Sans"/>
              </a:rPr>
              <a:t>Combinar</a:t>
            </a:r>
            <a:endParaRPr sz="900"/>
          </a:p>
          <a:p>
            <a:pPr indent="0" lvl="0" marL="0" marR="0" rtl="0" algn="ctr">
              <a:spcBef>
                <a:spcPts val="0"/>
              </a:spcBef>
              <a:spcAft>
                <a:spcPts val="0"/>
              </a:spcAft>
              <a:buNone/>
            </a:pPr>
            <a:r>
              <a:rPr b="1" lang="en-US" sz="1100">
                <a:solidFill>
                  <a:srgbClr val="7C2D12"/>
                </a:solidFill>
                <a:latin typeface="Noto Sans"/>
                <a:ea typeface="Noto Sans"/>
                <a:cs typeface="Noto Sans"/>
                <a:sym typeface="Noto Sans"/>
              </a:rPr>
              <a:t>resultados</a:t>
            </a:r>
            <a:endParaRPr sz="900"/>
          </a:p>
        </p:txBody>
      </p:sp>
      <p:sp>
        <p:nvSpPr>
          <p:cNvPr id="119" name="Google Shape;119;h1e918fe9f13658b9_0_3"/>
          <p:cNvSpPr/>
          <p:nvPr/>
        </p:nvSpPr>
        <p:spPr>
          <a:xfrm>
            <a:off x="8223250" y="3175000"/>
            <a:ext cx="1206300" cy="698700"/>
          </a:xfrm>
          <a:prstGeom prst="roundRect">
            <a:avLst>
              <a:gd fmla="val 12727" name="adj"/>
            </a:avLst>
          </a:prstGeom>
          <a:solidFill>
            <a:srgbClr val="FFEDD5"/>
          </a:solidFill>
          <a:ln cap="flat" cmpd="sng" w="12700">
            <a:solidFill>
              <a:srgbClr val="EA580C"/>
            </a:solidFill>
            <a:prstDash val="solid"/>
            <a:round/>
            <a:headEnd len="sm" w="sm" type="none"/>
            <a:tailEnd len="sm" w="sm" type="none"/>
          </a:ln>
        </p:spPr>
        <p:txBody>
          <a:bodyPr anchorCtr="0" anchor="ctr" bIns="63500" lIns="63500" spcFirstLastPara="1" rIns="63500" wrap="square" tIns="63500">
            <a:noAutofit/>
          </a:bodyPr>
          <a:lstStyle/>
          <a:p>
            <a:pPr indent="0" lvl="0" marL="0" marR="0" rtl="0" algn="ctr">
              <a:spcBef>
                <a:spcPts val="0"/>
              </a:spcBef>
              <a:spcAft>
                <a:spcPts val="0"/>
              </a:spcAft>
              <a:buNone/>
            </a:pPr>
            <a:r>
              <a:rPr b="1" lang="en-US" sz="1100">
                <a:solidFill>
                  <a:srgbClr val="7C2D12"/>
                </a:solidFill>
                <a:latin typeface="Noto Sans"/>
                <a:ea typeface="Noto Sans"/>
                <a:cs typeface="Noto Sans"/>
                <a:sym typeface="Noto Sans"/>
              </a:rPr>
              <a:t>Ajustar porção</a:t>
            </a:r>
            <a:endParaRPr sz="900"/>
          </a:p>
          <a:p>
            <a:pPr indent="0" lvl="0" marL="0" marR="0" rtl="0" algn="ctr">
              <a:spcBef>
                <a:spcPts val="0"/>
              </a:spcBef>
              <a:spcAft>
                <a:spcPts val="0"/>
              </a:spcAft>
              <a:buNone/>
            </a:pPr>
            <a:r>
              <a:rPr b="1" lang="en-US" sz="1100">
                <a:solidFill>
                  <a:srgbClr val="7C2D12"/>
                </a:solidFill>
                <a:latin typeface="Noto Sans"/>
                <a:ea typeface="Noto Sans"/>
                <a:cs typeface="Noto Sans"/>
                <a:sym typeface="Noto Sans"/>
              </a:rPr>
              <a:t>e validar</a:t>
            </a:r>
            <a:endParaRPr sz="900"/>
          </a:p>
          <a:p>
            <a:pPr indent="0" lvl="0" marL="0" marR="0" rtl="0" algn="ctr">
              <a:spcBef>
                <a:spcPts val="0"/>
              </a:spcBef>
              <a:spcAft>
                <a:spcPts val="0"/>
              </a:spcAft>
              <a:buNone/>
            </a:pPr>
            <a:r>
              <a:rPr b="1" lang="en-US" sz="1100">
                <a:solidFill>
                  <a:srgbClr val="7C2D12"/>
                </a:solidFill>
                <a:latin typeface="Noto Sans"/>
                <a:ea typeface="Noto Sans"/>
                <a:cs typeface="Noto Sans"/>
                <a:sym typeface="Noto Sans"/>
              </a:rPr>
              <a:t>nutrientes</a:t>
            </a:r>
            <a:endParaRPr sz="900"/>
          </a:p>
        </p:txBody>
      </p:sp>
      <p:sp>
        <p:nvSpPr>
          <p:cNvPr id="120" name="Google Shape;120;h1e918fe9f13658b9_0_3"/>
          <p:cNvSpPr/>
          <p:nvPr/>
        </p:nvSpPr>
        <p:spPr>
          <a:xfrm>
            <a:off x="9652000" y="3079750"/>
            <a:ext cx="1143000" cy="888900"/>
          </a:xfrm>
          <a:prstGeom prst="diamond">
            <a:avLst/>
          </a:prstGeom>
          <a:solidFill>
            <a:srgbClr val="FEF3C7"/>
          </a:solidFill>
          <a:ln cap="flat" cmpd="sng" w="12700">
            <a:solidFill>
              <a:srgbClr val="D97706"/>
            </a:solidFill>
            <a:prstDash val="solid"/>
            <a:round/>
            <a:headEnd len="sm" w="sm" type="none"/>
            <a:tailEnd len="sm" w="sm" type="none"/>
          </a:ln>
        </p:spPr>
        <p:txBody>
          <a:bodyPr anchorCtr="0" anchor="ctr" bIns="63500" lIns="63500" spcFirstLastPara="1" rIns="63500" wrap="square" tIns="63500">
            <a:noAutofit/>
          </a:bodyPr>
          <a:lstStyle/>
          <a:p>
            <a:pPr indent="0" lvl="0" marL="0" marR="0" rtl="0" algn="ctr">
              <a:spcBef>
                <a:spcPts val="0"/>
              </a:spcBef>
              <a:spcAft>
                <a:spcPts val="0"/>
              </a:spcAft>
              <a:buNone/>
            </a:pPr>
            <a:r>
              <a:t/>
            </a:r>
            <a:endParaRPr b="1" sz="1000">
              <a:solidFill>
                <a:srgbClr val="78350F"/>
              </a:solidFill>
              <a:latin typeface="Noto Sans"/>
              <a:ea typeface="Noto Sans"/>
              <a:cs typeface="Noto Sans"/>
              <a:sym typeface="Noto Sans"/>
            </a:endParaRPr>
          </a:p>
        </p:txBody>
      </p:sp>
      <p:sp>
        <p:nvSpPr>
          <p:cNvPr id="121" name="Google Shape;121;h1e918fe9f13658b9_0_3"/>
          <p:cNvSpPr/>
          <p:nvPr/>
        </p:nvSpPr>
        <p:spPr>
          <a:xfrm>
            <a:off x="9652000" y="3175000"/>
            <a:ext cx="1143000" cy="69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000">
                <a:solidFill>
                  <a:srgbClr val="78350F"/>
                </a:solidFill>
                <a:latin typeface="Noto Sans"/>
                <a:ea typeface="Noto Sans"/>
                <a:cs typeface="Noto Sans"/>
                <a:sym typeface="Noto Sans"/>
              </a:rPr>
              <a:t>Dados</a:t>
            </a:r>
            <a:endParaRPr sz="900"/>
          </a:p>
          <a:p>
            <a:pPr indent="0" lvl="0" marL="0" marR="0" rtl="0" algn="ctr">
              <a:spcBef>
                <a:spcPts val="0"/>
              </a:spcBef>
              <a:spcAft>
                <a:spcPts val="0"/>
              </a:spcAft>
              <a:buNone/>
            </a:pPr>
            <a:r>
              <a:rPr b="1" lang="en-US" sz="1000">
                <a:solidFill>
                  <a:srgbClr val="78350F"/>
                </a:solidFill>
                <a:latin typeface="Noto Sans"/>
                <a:ea typeface="Noto Sans"/>
                <a:cs typeface="Noto Sans"/>
                <a:sym typeface="Noto Sans"/>
              </a:rPr>
              <a:t>suficientes?</a:t>
            </a:r>
            <a:endParaRPr sz="900"/>
          </a:p>
        </p:txBody>
      </p:sp>
      <p:sp>
        <p:nvSpPr>
          <p:cNvPr id="122" name="Google Shape;122;h1e918fe9f13658b9_0_3"/>
          <p:cNvSpPr/>
          <p:nvPr/>
        </p:nvSpPr>
        <p:spPr>
          <a:xfrm>
            <a:off x="11017250" y="3175000"/>
            <a:ext cx="888900" cy="698700"/>
          </a:xfrm>
          <a:prstGeom prst="roundRect">
            <a:avLst>
              <a:gd fmla="val 12727" name="adj"/>
            </a:avLst>
          </a:prstGeom>
          <a:solidFill>
            <a:srgbClr val="DCFCE7"/>
          </a:solidFill>
          <a:ln cap="flat" cmpd="sng" w="12700">
            <a:solidFill>
              <a:srgbClr val="16A34A"/>
            </a:solidFill>
            <a:prstDash val="solid"/>
            <a:round/>
            <a:headEnd len="sm" w="sm" type="none"/>
            <a:tailEnd len="sm" w="sm" type="none"/>
          </a:ln>
        </p:spPr>
        <p:txBody>
          <a:bodyPr anchorCtr="0" anchor="ctr" bIns="63500" lIns="63500" spcFirstLastPara="1" rIns="63500" wrap="square" tIns="63500">
            <a:noAutofit/>
          </a:bodyPr>
          <a:lstStyle/>
          <a:p>
            <a:pPr indent="0" lvl="0" marL="0" marR="0" rtl="0" algn="ctr">
              <a:spcBef>
                <a:spcPts val="0"/>
              </a:spcBef>
              <a:spcAft>
                <a:spcPts val="0"/>
              </a:spcAft>
              <a:buNone/>
            </a:pPr>
            <a:r>
              <a:rPr b="1" lang="en-US" sz="1100">
                <a:solidFill>
                  <a:srgbClr val="14532D"/>
                </a:solidFill>
                <a:latin typeface="Noto Sans"/>
                <a:ea typeface="Noto Sans"/>
                <a:cs typeface="Noto Sans"/>
                <a:sym typeface="Noto Sans"/>
              </a:rPr>
              <a:t>Salvar no</a:t>
            </a:r>
            <a:endParaRPr sz="900"/>
          </a:p>
          <a:p>
            <a:pPr indent="0" lvl="0" marL="0" marR="0" rtl="0" algn="ctr">
              <a:spcBef>
                <a:spcPts val="0"/>
              </a:spcBef>
              <a:spcAft>
                <a:spcPts val="0"/>
              </a:spcAft>
              <a:buNone/>
            </a:pPr>
            <a:r>
              <a:rPr b="1" lang="en-US" sz="1100">
                <a:solidFill>
                  <a:srgbClr val="14532D"/>
                </a:solidFill>
                <a:latin typeface="Noto Sans"/>
                <a:ea typeface="Noto Sans"/>
                <a:cs typeface="Noto Sans"/>
                <a:sym typeface="Noto Sans"/>
              </a:rPr>
              <a:t>cache</a:t>
            </a:r>
            <a:endParaRPr sz="900"/>
          </a:p>
        </p:txBody>
      </p:sp>
      <p:sp>
        <p:nvSpPr>
          <p:cNvPr id="123" name="Google Shape;123;h1e918fe9f13658b9_0_3"/>
          <p:cNvSpPr/>
          <p:nvPr/>
        </p:nvSpPr>
        <p:spPr>
          <a:xfrm>
            <a:off x="10382250" y="1587500"/>
            <a:ext cx="1524000" cy="920700"/>
          </a:xfrm>
          <a:prstGeom prst="roundRect">
            <a:avLst>
              <a:gd fmla="val 9655" name="adj"/>
            </a:avLst>
          </a:prstGeom>
          <a:solidFill>
            <a:srgbClr val="DCFCE7"/>
          </a:solidFill>
          <a:ln cap="flat" cmpd="sng" w="12700">
            <a:solidFill>
              <a:srgbClr val="16A34A"/>
            </a:solidFill>
            <a:prstDash val="solid"/>
            <a:round/>
            <a:headEnd len="sm" w="sm" type="none"/>
            <a:tailEnd len="sm" w="sm" type="none"/>
          </a:ln>
        </p:spPr>
        <p:txBody>
          <a:bodyPr anchorCtr="0" anchor="ctr" bIns="63500" lIns="63500" spcFirstLastPara="1" rIns="63500" wrap="square" tIns="63500">
            <a:noAutofit/>
          </a:bodyPr>
          <a:lstStyle/>
          <a:p>
            <a:pPr indent="0" lvl="0" marL="0" marR="0" rtl="0" algn="ctr">
              <a:spcBef>
                <a:spcPts val="0"/>
              </a:spcBef>
              <a:spcAft>
                <a:spcPts val="0"/>
              </a:spcAft>
              <a:buNone/>
            </a:pPr>
            <a:r>
              <a:rPr b="1" lang="en-US" sz="1100">
                <a:solidFill>
                  <a:srgbClr val="14532D"/>
                </a:solidFill>
                <a:latin typeface="Noto Sans"/>
                <a:ea typeface="Noto Sans"/>
                <a:cs typeface="Noto Sans"/>
                <a:sym typeface="Noto Sans"/>
              </a:rPr>
              <a:t>Calorias e macros</a:t>
            </a:r>
            <a:endParaRPr sz="900"/>
          </a:p>
          <a:p>
            <a:pPr indent="0" lvl="0" marL="0" marR="0" rtl="0" algn="ctr">
              <a:spcBef>
                <a:spcPts val="0"/>
              </a:spcBef>
              <a:spcAft>
                <a:spcPts val="0"/>
              </a:spcAft>
              <a:buNone/>
            </a:pPr>
            <a:r>
              <a:rPr b="1" lang="en-US" sz="1100">
                <a:solidFill>
                  <a:srgbClr val="14532D"/>
                </a:solidFill>
                <a:latin typeface="Noto Sans"/>
                <a:ea typeface="Noto Sans"/>
                <a:cs typeface="Noto Sans"/>
                <a:sym typeface="Noto Sans"/>
              </a:rPr>
              <a:t>Faixa, fonte</a:t>
            </a:r>
            <a:endParaRPr sz="900"/>
          </a:p>
          <a:p>
            <a:pPr indent="0" lvl="0" marL="0" marR="0" rtl="0" algn="ctr">
              <a:spcBef>
                <a:spcPts val="0"/>
              </a:spcBef>
              <a:spcAft>
                <a:spcPts val="0"/>
              </a:spcAft>
              <a:buNone/>
            </a:pPr>
            <a:r>
              <a:rPr b="1" lang="en-US" sz="1100">
                <a:solidFill>
                  <a:srgbClr val="14532D"/>
                </a:solidFill>
                <a:latin typeface="Noto Sans"/>
                <a:ea typeface="Noto Sans"/>
                <a:cs typeface="Noto Sans"/>
                <a:sym typeface="Noto Sans"/>
              </a:rPr>
              <a:t>e confiança</a:t>
            </a:r>
            <a:endParaRPr sz="900"/>
          </a:p>
        </p:txBody>
      </p:sp>
      <p:sp>
        <p:nvSpPr>
          <p:cNvPr id="124" name="Google Shape;124;h1e918fe9f13658b9_0_3"/>
          <p:cNvSpPr/>
          <p:nvPr/>
        </p:nvSpPr>
        <p:spPr>
          <a:xfrm>
            <a:off x="9588500" y="4921250"/>
            <a:ext cx="2317800" cy="539700"/>
          </a:xfrm>
          <a:prstGeom prst="roundRect">
            <a:avLst>
              <a:gd fmla="val 16471" name="adj"/>
            </a:avLst>
          </a:prstGeom>
          <a:solidFill>
            <a:srgbClr val="FEE2E2"/>
          </a:solidFill>
          <a:ln cap="flat" cmpd="sng" w="12700">
            <a:solidFill>
              <a:srgbClr val="DC2626"/>
            </a:solidFill>
            <a:prstDash val="solid"/>
            <a:round/>
            <a:headEnd len="sm" w="sm" type="none"/>
            <a:tailEnd len="sm" w="sm" type="none"/>
          </a:ln>
        </p:spPr>
        <p:txBody>
          <a:bodyPr anchorCtr="0" anchor="ctr" bIns="63500" lIns="63500" spcFirstLastPara="1" rIns="63500" wrap="square" tIns="63500">
            <a:noAutofit/>
          </a:bodyPr>
          <a:lstStyle/>
          <a:p>
            <a:pPr indent="0" lvl="0" marL="0" marR="0" rtl="0" algn="ctr">
              <a:spcBef>
                <a:spcPts val="0"/>
              </a:spcBef>
              <a:spcAft>
                <a:spcPts val="0"/>
              </a:spcAft>
              <a:buNone/>
            </a:pPr>
            <a:r>
              <a:rPr b="1" lang="en-US" sz="1100">
                <a:solidFill>
                  <a:srgbClr val="7F1D1D"/>
                </a:solidFill>
                <a:latin typeface="Noto Sans"/>
                <a:ea typeface="Noto Sans"/>
                <a:cs typeface="Noto Sans"/>
                <a:sym typeface="Noto Sans"/>
              </a:rPr>
              <a:t>Nutrição indisponível</a:t>
            </a:r>
            <a:endParaRPr sz="900"/>
          </a:p>
        </p:txBody>
      </p:sp>
      <p:cxnSp>
        <p:nvCxnSpPr>
          <p:cNvPr id="125" name="Google Shape;125;h1e918fe9f13658b9_0_3"/>
          <p:cNvCxnSpPr/>
          <p:nvPr/>
        </p:nvCxnSpPr>
        <p:spPr>
          <a:xfrm>
            <a:off x="1619250" y="3524250"/>
            <a:ext cx="222300" cy="0"/>
          </a:xfrm>
          <a:prstGeom prst="straightConnector1">
            <a:avLst/>
          </a:prstGeom>
          <a:noFill/>
          <a:ln cap="flat" cmpd="sng" w="14600">
            <a:solidFill>
              <a:srgbClr val="778397"/>
            </a:solidFill>
            <a:prstDash val="solid"/>
            <a:round/>
            <a:headEnd len="sm" w="sm" type="none"/>
            <a:tailEnd len="med" w="med" type="triangle"/>
          </a:ln>
        </p:spPr>
      </p:cxnSp>
      <p:cxnSp>
        <p:nvCxnSpPr>
          <p:cNvPr id="126" name="Google Shape;126;h1e918fe9f13658b9_0_3"/>
          <p:cNvCxnSpPr/>
          <p:nvPr/>
        </p:nvCxnSpPr>
        <p:spPr>
          <a:xfrm>
            <a:off x="2857500" y="3524250"/>
            <a:ext cx="349200" cy="0"/>
          </a:xfrm>
          <a:prstGeom prst="straightConnector1">
            <a:avLst/>
          </a:prstGeom>
          <a:noFill/>
          <a:ln cap="flat" cmpd="sng" w="14600">
            <a:solidFill>
              <a:srgbClr val="778397"/>
            </a:solidFill>
            <a:prstDash val="solid"/>
            <a:round/>
            <a:headEnd len="sm" w="sm" type="none"/>
            <a:tailEnd len="med" w="med" type="triangle"/>
          </a:ln>
        </p:spPr>
      </p:cxnSp>
      <p:sp>
        <p:nvSpPr>
          <p:cNvPr id="127" name="Google Shape;127;h1e918fe9f13658b9_0_3"/>
          <p:cNvSpPr/>
          <p:nvPr/>
        </p:nvSpPr>
        <p:spPr>
          <a:xfrm>
            <a:off x="2876550" y="3289300"/>
            <a:ext cx="304800" cy="177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lang="en-US" sz="1100">
                <a:solidFill>
                  <a:srgbClr val="78350F"/>
                </a:solidFill>
                <a:latin typeface="Noto Sans"/>
                <a:ea typeface="Noto Sans"/>
                <a:cs typeface="Noto Sans"/>
                <a:sym typeface="Noto Sans"/>
              </a:rPr>
              <a:t>Não</a:t>
            </a:r>
            <a:endParaRPr sz="900"/>
          </a:p>
        </p:txBody>
      </p:sp>
      <p:cxnSp>
        <p:nvCxnSpPr>
          <p:cNvPr id="128" name="Google Shape;128;h1e918fe9f13658b9_0_3"/>
          <p:cNvCxnSpPr/>
          <p:nvPr/>
        </p:nvCxnSpPr>
        <p:spPr>
          <a:xfrm rot="10800000">
            <a:off x="2349500" y="1333600"/>
            <a:ext cx="0" cy="1841400"/>
          </a:xfrm>
          <a:prstGeom prst="straightConnector1">
            <a:avLst/>
          </a:prstGeom>
          <a:noFill/>
          <a:ln cap="flat" cmpd="sng" w="14600">
            <a:solidFill>
              <a:srgbClr val="16A34A"/>
            </a:solidFill>
            <a:prstDash val="solid"/>
            <a:round/>
            <a:headEnd len="sm" w="sm" type="none"/>
            <a:tailEnd len="sm" w="sm" type="none"/>
          </a:ln>
        </p:spPr>
      </p:cxnSp>
      <p:cxnSp>
        <p:nvCxnSpPr>
          <p:cNvPr id="129" name="Google Shape;129;h1e918fe9f13658b9_0_3"/>
          <p:cNvCxnSpPr/>
          <p:nvPr/>
        </p:nvCxnSpPr>
        <p:spPr>
          <a:xfrm>
            <a:off x="2349500" y="1333500"/>
            <a:ext cx="8794800" cy="0"/>
          </a:xfrm>
          <a:prstGeom prst="straightConnector1">
            <a:avLst/>
          </a:prstGeom>
          <a:noFill/>
          <a:ln cap="flat" cmpd="sng" w="14600">
            <a:solidFill>
              <a:srgbClr val="16A34A"/>
            </a:solidFill>
            <a:prstDash val="solid"/>
            <a:round/>
            <a:headEnd len="sm" w="sm" type="none"/>
            <a:tailEnd len="sm" w="sm" type="none"/>
          </a:ln>
        </p:spPr>
      </p:cxnSp>
      <p:cxnSp>
        <p:nvCxnSpPr>
          <p:cNvPr id="130" name="Google Shape;130;h1e918fe9f13658b9_0_3"/>
          <p:cNvCxnSpPr/>
          <p:nvPr/>
        </p:nvCxnSpPr>
        <p:spPr>
          <a:xfrm>
            <a:off x="11144250" y="1333500"/>
            <a:ext cx="0" cy="254100"/>
          </a:xfrm>
          <a:prstGeom prst="straightConnector1">
            <a:avLst/>
          </a:prstGeom>
          <a:noFill/>
          <a:ln cap="flat" cmpd="sng" w="14600">
            <a:solidFill>
              <a:srgbClr val="16A34A"/>
            </a:solidFill>
            <a:prstDash val="solid"/>
            <a:round/>
            <a:headEnd len="sm" w="sm" type="none"/>
            <a:tailEnd len="med" w="med" type="triangle"/>
          </a:ln>
        </p:spPr>
      </p:cxnSp>
      <p:sp>
        <p:nvSpPr>
          <p:cNvPr id="131" name="Google Shape;131;h1e918fe9f13658b9_0_3"/>
          <p:cNvSpPr/>
          <p:nvPr/>
        </p:nvSpPr>
        <p:spPr>
          <a:xfrm>
            <a:off x="3238500" y="1174750"/>
            <a:ext cx="2254200" cy="177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200">
                <a:solidFill>
                  <a:srgbClr val="15803D"/>
                </a:solidFill>
                <a:latin typeface="Noto Sans"/>
                <a:ea typeface="Noto Sans"/>
                <a:cs typeface="Noto Sans"/>
                <a:sym typeface="Noto Sans"/>
              </a:rPr>
              <a:t>Sim: reutilizar resultado</a:t>
            </a:r>
            <a:endParaRPr sz="900"/>
          </a:p>
        </p:txBody>
      </p:sp>
      <p:cxnSp>
        <p:nvCxnSpPr>
          <p:cNvPr id="132" name="Google Shape;132;h1e918fe9f13658b9_0_3"/>
          <p:cNvCxnSpPr/>
          <p:nvPr/>
        </p:nvCxnSpPr>
        <p:spPr>
          <a:xfrm>
            <a:off x="4318000" y="3524250"/>
            <a:ext cx="222300" cy="0"/>
          </a:xfrm>
          <a:prstGeom prst="straightConnector1">
            <a:avLst/>
          </a:prstGeom>
          <a:noFill/>
          <a:ln cap="flat" cmpd="sng" w="14600">
            <a:solidFill>
              <a:srgbClr val="778397"/>
            </a:solidFill>
            <a:prstDash val="solid"/>
            <a:round/>
            <a:headEnd len="sm" w="sm" type="none"/>
            <a:tailEnd len="sm" w="sm" type="none"/>
          </a:ln>
        </p:spPr>
      </p:cxnSp>
      <p:cxnSp>
        <p:nvCxnSpPr>
          <p:cNvPr id="133" name="Google Shape;133;h1e918fe9f13658b9_0_3"/>
          <p:cNvCxnSpPr/>
          <p:nvPr/>
        </p:nvCxnSpPr>
        <p:spPr>
          <a:xfrm rot="10800000">
            <a:off x="4540250" y="2127150"/>
            <a:ext cx="0" cy="1397100"/>
          </a:xfrm>
          <a:prstGeom prst="straightConnector1">
            <a:avLst/>
          </a:prstGeom>
          <a:noFill/>
          <a:ln cap="flat" cmpd="sng" w="14600">
            <a:solidFill>
              <a:srgbClr val="778397"/>
            </a:solidFill>
            <a:prstDash val="solid"/>
            <a:round/>
            <a:headEnd len="sm" w="sm" type="none"/>
            <a:tailEnd len="sm" w="sm" type="none"/>
          </a:ln>
        </p:spPr>
      </p:cxnSp>
      <p:cxnSp>
        <p:nvCxnSpPr>
          <p:cNvPr id="134" name="Google Shape;134;h1e918fe9f13658b9_0_3"/>
          <p:cNvCxnSpPr/>
          <p:nvPr/>
        </p:nvCxnSpPr>
        <p:spPr>
          <a:xfrm>
            <a:off x="4540250" y="2127250"/>
            <a:ext cx="254100" cy="0"/>
          </a:xfrm>
          <a:prstGeom prst="straightConnector1">
            <a:avLst/>
          </a:prstGeom>
          <a:noFill/>
          <a:ln cap="flat" cmpd="sng" w="14600">
            <a:solidFill>
              <a:srgbClr val="778397"/>
            </a:solidFill>
            <a:prstDash val="solid"/>
            <a:round/>
            <a:headEnd len="sm" w="sm" type="none"/>
            <a:tailEnd len="med" w="med" type="triangle"/>
          </a:ln>
        </p:spPr>
      </p:cxnSp>
      <p:cxnSp>
        <p:nvCxnSpPr>
          <p:cNvPr id="135" name="Google Shape;135;h1e918fe9f13658b9_0_3"/>
          <p:cNvCxnSpPr/>
          <p:nvPr/>
        </p:nvCxnSpPr>
        <p:spPr>
          <a:xfrm>
            <a:off x="4318000" y="3524250"/>
            <a:ext cx="222300" cy="0"/>
          </a:xfrm>
          <a:prstGeom prst="straightConnector1">
            <a:avLst/>
          </a:prstGeom>
          <a:noFill/>
          <a:ln cap="flat" cmpd="sng" w="14600">
            <a:solidFill>
              <a:srgbClr val="778397"/>
            </a:solidFill>
            <a:prstDash val="solid"/>
            <a:round/>
            <a:headEnd len="sm" w="sm" type="none"/>
            <a:tailEnd len="sm" w="sm" type="none"/>
          </a:ln>
        </p:spPr>
      </p:cxnSp>
      <p:cxnSp>
        <p:nvCxnSpPr>
          <p:cNvPr id="136" name="Google Shape;136;h1e918fe9f13658b9_0_3"/>
          <p:cNvCxnSpPr/>
          <p:nvPr/>
        </p:nvCxnSpPr>
        <p:spPr>
          <a:xfrm>
            <a:off x="4540250" y="3524250"/>
            <a:ext cx="0" cy="635100"/>
          </a:xfrm>
          <a:prstGeom prst="straightConnector1">
            <a:avLst/>
          </a:prstGeom>
          <a:noFill/>
          <a:ln cap="flat" cmpd="sng" w="14600">
            <a:solidFill>
              <a:srgbClr val="778397"/>
            </a:solidFill>
            <a:prstDash val="solid"/>
            <a:round/>
            <a:headEnd len="sm" w="sm" type="none"/>
            <a:tailEnd len="sm" w="sm" type="none"/>
          </a:ln>
        </p:spPr>
      </p:cxnSp>
      <p:cxnSp>
        <p:nvCxnSpPr>
          <p:cNvPr id="137" name="Google Shape;137;h1e918fe9f13658b9_0_3"/>
          <p:cNvCxnSpPr/>
          <p:nvPr/>
        </p:nvCxnSpPr>
        <p:spPr>
          <a:xfrm>
            <a:off x="4540250" y="4159250"/>
            <a:ext cx="254100" cy="0"/>
          </a:xfrm>
          <a:prstGeom prst="straightConnector1">
            <a:avLst/>
          </a:prstGeom>
          <a:noFill/>
          <a:ln cap="flat" cmpd="sng" w="14600">
            <a:solidFill>
              <a:srgbClr val="778397"/>
            </a:solidFill>
            <a:prstDash val="solid"/>
            <a:round/>
            <a:headEnd len="sm" w="sm" type="none"/>
            <a:tailEnd len="med" w="med" type="triangle"/>
          </a:ln>
        </p:spPr>
      </p:cxnSp>
      <p:cxnSp>
        <p:nvCxnSpPr>
          <p:cNvPr id="138" name="Google Shape;138;h1e918fe9f13658b9_0_3"/>
          <p:cNvCxnSpPr/>
          <p:nvPr/>
        </p:nvCxnSpPr>
        <p:spPr>
          <a:xfrm>
            <a:off x="5016500" y="2476500"/>
            <a:ext cx="0" cy="317700"/>
          </a:xfrm>
          <a:prstGeom prst="straightConnector1">
            <a:avLst/>
          </a:prstGeom>
          <a:noFill/>
          <a:ln cap="flat" cmpd="sng" w="14600">
            <a:solidFill>
              <a:srgbClr val="0D9488"/>
            </a:solidFill>
            <a:prstDash val="solid"/>
            <a:round/>
            <a:headEnd len="sm" w="sm" type="none"/>
            <a:tailEnd len="med" w="med" type="triangle"/>
          </a:ln>
        </p:spPr>
      </p:cxnSp>
      <p:sp>
        <p:nvSpPr>
          <p:cNvPr id="139" name="Google Shape;139;h1e918fe9f13658b9_0_3"/>
          <p:cNvSpPr/>
          <p:nvPr/>
        </p:nvSpPr>
        <p:spPr>
          <a:xfrm>
            <a:off x="5162550" y="2520950"/>
            <a:ext cx="1301700" cy="19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000">
                <a:solidFill>
                  <a:srgbClr val="0F766E"/>
                </a:solidFill>
                <a:latin typeface="Noto Sans"/>
                <a:ea typeface="Noto Sans"/>
                <a:cs typeface="Noto Sans"/>
                <a:sym typeface="Noto Sans"/>
              </a:rPr>
              <a:t>Sem correspondência</a:t>
            </a:r>
            <a:endParaRPr sz="900"/>
          </a:p>
        </p:txBody>
      </p:sp>
      <p:cxnSp>
        <p:nvCxnSpPr>
          <p:cNvPr id="140" name="Google Shape;140;h1e918fe9f13658b9_0_3"/>
          <p:cNvCxnSpPr/>
          <p:nvPr/>
        </p:nvCxnSpPr>
        <p:spPr>
          <a:xfrm>
            <a:off x="5556250" y="4508500"/>
            <a:ext cx="0" cy="317700"/>
          </a:xfrm>
          <a:prstGeom prst="straightConnector1">
            <a:avLst/>
          </a:prstGeom>
          <a:noFill/>
          <a:ln cap="flat" cmpd="sng" w="14600">
            <a:solidFill>
              <a:srgbClr val="7C3AED"/>
            </a:solidFill>
            <a:prstDash val="solid"/>
            <a:round/>
            <a:headEnd len="sm" w="sm" type="none"/>
            <a:tailEnd len="med" w="med" type="triangle"/>
          </a:ln>
        </p:spPr>
      </p:cxnSp>
      <p:cxnSp>
        <p:nvCxnSpPr>
          <p:cNvPr id="141" name="Google Shape;141;h1e918fe9f13658b9_0_3"/>
          <p:cNvCxnSpPr/>
          <p:nvPr/>
        </p:nvCxnSpPr>
        <p:spPr>
          <a:xfrm>
            <a:off x="6318250" y="2127250"/>
            <a:ext cx="222300" cy="0"/>
          </a:xfrm>
          <a:prstGeom prst="straightConnector1">
            <a:avLst/>
          </a:prstGeom>
          <a:noFill/>
          <a:ln cap="flat" cmpd="sng" w="14600">
            <a:solidFill>
              <a:srgbClr val="778397"/>
            </a:solidFill>
            <a:prstDash val="solid"/>
            <a:round/>
            <a:headEnd len="sm" w="sm" type="none"/>
            <a:tailEnd len="sm" w="sm" type="none"/>
          </a:ln>
        </p:spPr>
      </p:cxnSp>
      <p:cxnSp>
        <p:nvCxnSpPr>
          <p:cNvPr id="142" name="Google Shape;142;h1e918fe9f13658b9_0_3"/>
          <p:cNvCxnSpPr/>
          <p:nvPr/>
        </p:nvCxnSpPr>
        <p:spPr>
          <a:xfrm>
            <a:off x="6540500" y="2127250"/>
            <a:ext cx="0" cy="1397100"/>
          </a:xfrm>
          <a:prstGeom prst="straightConnector1">
            <a:avLst/>
          </a:prstGeom>
          <a:noFill/>
          <a:ln cap="flat" cmpd="sng" w="14600">
            <a:solidFill>
              <a:srgbClr val="778397"/>
            </a:solidFill>
            <a:prstDash val="solid"/>
            <a:round/>
            <a:headEnd len="sm" w="sm" type="none"/>
            <a:tailEnd len="sm" w="sm" type="none"/>
          </a:ln>
        </p:spPr>
      </p:cxnSp>
      <p:cxnSp>
        <p:nvCxnSpPr>
          <p:cNvPr id="143" name="Google Shape;143;h1e918fe9f13658b9_0_3"/>
          <p:cNvCxnSpPr/>
          <p:nvPr/>
        </p:nvCxnSpPr>
        <p:spPr>
          <a:xfrm>
            <a:off x="6540500" y="3524250"/>
            <a:ext cx="222300" cy="0"/>
          </a:xfrm>
          <a:prstGeom prst="straightConnector1">
            <a:avLst/>
          </a:prstGeom>
          <a:noFill/>
          <a:ln cap="flat" cmpd="sng" w="14600">
            <a:solidFill>
              <a:srgbClr val="778397"/>
            </a:solidFill>
            <a:prstDash val="solid"/>
            <a:round/>
            <a:headEnd len="sm" w="sm" type="none"/>
            <a:tailEnd len="med" w="med" type="triangle"/>
          </a:ln>
        </p:spPr>
      </p:cxnSp>
      <p:cxnSp>
        <p:nvCxnSpPr>
          <p:cNvPr id="144" name="Google Shape;144;h1e918fe9f13658b9_0_3"/>
          <p:cNvCxnSpPr/>
          <p:nvPr/>
        </p:nvCxnSpPr>
        <p:spPr>
          <a:xfrm>
            <a:off x="6318250" y="3143250"/>
            <a:ext cx="126900" cy="0"/>
          </a:xfrm>
          <a:prstGeom prst="straightConnector1">
            <a:avLst/>
          </a:prstGeom>
          <a:noFill/>
          <a:ln cap="flat" cmpd="sng" w="14600">
            <a:solidFill>
              <a:srgbClr val="778397"/>
            </a:solidFill>
            <a:prstDash val="solid"/>
            <a:round/>
            <a:headEnd len="sm" w="sm" type="none"/>
            <a:tailEnd len="sm" w="sm" type="none"/>
          </a:ln>
        </p:spPr>
      </p:cxnSp>
      <p:cxnSp>
        <p:nvCxnSpPr>
          <p:cNvPr id="145" name="Google Shape;145;h1e918fe9f13658b9_0_3"/>
          <p:cNvCxnSpPr/>
          <p:nvPr/>
        </p:nvCxnSpPr>
        <p:spPr>
          <a:xfrm>
            <a:off x="6445250" y="3143250"/>
            <a:ext cx="0" cy="381000"/>
          </a:xfrm>
          <a:prstGeom prst="straightConnector1">
            <a:avLst/>
          </a:prstGeom>
          <a:noFill/>
          <a:ln cap="flat" cmpd="sng" w="14600">
            <a:solidFill>
              <a:srgbClr val="778397"/>
            </a:solidFill>
            <a:prstDash val="solid"/>
            <a:round/>
            <a:headEnd len="sm" w="sm" type="none"/>
            <a:tailEnd len="sm" w="sm" type="none"/>
          </a:ln>
        </p:spPr>
      </p:cxnSp>
      <p:cxnSp>
        <p:nvCxnSpPr>
          <p:cNvPr id="146" name="Google Shape;146;h1e918fe9f13658b9_0_3"/>
          <p:cNvCxnSpPr/>
          <p:nvPr/>
        </p:nvCxnSpPr>
        <p:spPr>
          <a:xfrm>
            <a:off x="6445250" y="3524250"/>
            <a:ext cx="317700" cy="0"/>
          </a:xfrm>
          <a:prstGeom prst="straightConnector1">
            <a:avLst/>
          </a:prstGeom>
          <a:noFill/>
          <a:ln cap="flat" cmpd="sng" w="14600">
            <a:solidFill>
              <a:srgbClr val="778397"/>
            </a:solidFill>
            <a:prstDash val="solid"/>
            <a:round/>
            <a:headEnd len="sm" w="sm" type="none"/>
            <a:tailEnd len="med" w="med" type="triangle"/>
          </a:ln>
        </p:spPr>
      </p:cxnSp>
      <p:cxnSp>
        <p:nvCxnSpPr>
          <p:cNvPr id="147" name="Google Shape;147;h1e918fe9f13658b9_0_3"/>
          <p:cNvCxnSpPr/>
          <p:nvPr/>
        </p:nvCxnSpPr>
        <p:spPr>
          <a:xfrm>
            <a:off x="6318250" y="4159250"/>
            <a:ext cx="222300" cy="0"/>
          </a:xfrm>
          <a:prstGeom prst="straightConnector1">
            <a:avLst/>
          </a:prstGeom>
          <a:noFill/>
          <a:ln cap="flat" cmpd="sng" w="14600">
            <a:solidFill>
              <a:srgbClr val="778397"/>
            </a:solidFill>
            <a:prstDash val="solid"/>
            <a:round/>
            <a:headEnd len="sm" w="sm" type="none"/>
            <a:tailEnd len="sm" w="sm" type="none"/>
          </a:ln>
        </p:spPr>
      </p:cxnSp>
      <p:cxnSp>
        <p:nvCxnSpPr>
          <p:cNvPr id="148" name="Google Shape;148;h1e918fe9f13658b9_0_3"/>
          <p:cNvCxnSpPr/>
          <p:nvPr/>
        </p:nvCxnSpPr>
        <p:spPr>
          <a:xfrm rot="10800000">
            <a:off x="6540500" y="3524150"/>
            <a:ext cx="0" cy="635100"/>
          </a:xfrm>
          <a:prstGeom prst="straightConnector1">
            <a:avLst/>
          </a:prstGeom>
          <a:noFill/>
          <a:ln cap="flat" cmpd="sng" w="14600">
            <a:solidFill>
              <a:srgbClr val="778397"/>
            </a:solidFill>
            <a:prstDash val="solid"/>
            <a:round/>
            <a:headEnd len="sm" w="sm" type="none"/>
            <a:tailEnd len="sm" w="sm" type="none"/>
          </a:ln>
        </p:spPr>
      </p:cxnSp>
      <p:cxnSp>
        <p:nvCxnSpPr>
          <p:cNvPr id="149" name="Google Shape;149;h1e918fe9f13658b9_0_3"/>
          <p:cNvCxnSpPr/>
          <p:nvPr/>
        </p:nvCxnSpPr>
        <p:spPr>
          <a:xfrm>
            <a:off x="6540500" y="3524250"/>
            <a:ext cx="222300" cy="0"/>
          </a:xfrm>
          <a:prstGeom prst="straightConnector1">
            <a:avLst/>
          </a:prstGeom>
          <a:noFill/>
          <a:ln cap="flat" cmpd="sng" w="14600">
            <a:solidFill>
              <a:srgbClr val="778397"/>
            </a:solidFill>
            <a:prstDash val="solid"/>
            <a:round/>
            <a:headEnd len="sm" w="sm" type="none"/>
            <a:tailEnd len="med" w="med" type="triangle"/>
          </a:ln>
        </p:spPr>
      </p:cxnSp>
      <p:cxnSp>
        <p:nvCxnSpPr>
          <p:cNvPr id="150" name="Google Shape;150;h1e918fe9f13658b9_0_3"/>
          <p:cNvCxnSpPr/>
          <p:nvPr/>
        </p:nvCxnSpPr>
        <p:spPr>
          <a:xfrm>
            <a:off x="6318250" y="5207000"/>
            <a:ext cx="317700" cy="0"/>
          </a:xfrm>
          <a:prstGeom prst="straightConnector1">
            <a:avLst/>
          </a:prstGeom>
          <a:noFill/>
          <a:ln cap="flat" cmpd="sng" w="14600">
            <a:solidFill>
              <a:srgbClr val="778397"/>
            </a:solidFill>
            <a:prstDash val="solid"/>
            <a:round/>
            <a:headEnd len="sm" w="sm" type="none"/>
            <a:tailEnd len="sm" w="sm" type="none"/>
          </a:ln>
        </p:spPr>
      </p:cxnSp>
      <p:cxnSp>
        <p:nvCxnSpPr>
          <p:cNvPr id="151" name="Google Shape;151;h1e918fe9f13658b9_0_3"/>
          <p:cNvCxnSpPr/>
          <p:nvPr/>
        </p:nvCxnSpPr>
        <p:spPr>
          <a:xfrm rot="10800000">
            <a:off x="6635750" y="3714800"/>
            <a:ext cx="0" cy="1492200"/>
          </a:xfrm>
          <a:prstGeom prst="straightConnector1">
            <a:avLst/>
          </a:prstGeom>
          <a:noFill/>
          <a:ln cap="flat" cmpd="sng" w="14600">
            <a:solidFill>
              <a:srgbClr val="778397"/>
            </a:solidFill>
            <a:prstDash val="solid"/>
            <a:round/>
            <a:headEnd len="sm" w="sm" type="none"/>
            <a:tailEnd len="sm" w="sm" type="none"/>
          </a:ln>
        </p:spPr>
      </p:cxnSp>
      <p:cxnSp>
        <p:nvCxnSpPr>
          <p:cNvPr id="152" name="Google Shape;152;h1e918fe9f13658b9_0_3"/>
          <p:cNvCxnSpPr/>
          <p:nvPr/>
        </p:nvCxnSpPr>
        <p:spPr>
          <a:xfrm>
            <a:off x="6635750" y="3714750"/>
            <a:ext cx="126900" cy="0"/>
          </a:xfrm>
          <a:prstGeom prst="straightConnector1">
            <a:avLst/>
          </a:prstGeom>
          <a:noFill/>
          <a:ln cap="flat" cmpd="sng" w="14600">
            <a:solidFill>
              <a:srgbClr val="778397"/>
            </a:solidFill>
            <a:prstDash val="solid"/>
            <a:round/>
            <a:headEnd len="sm" w="sm" type="none"/>
            <a:tailEnd len="med" w="med" type="triangle"/>
          </a:ln>
        </p:spPr>
      </p:cxnSp>
      <p:cxnSp>
        <p:nvCxnSpPr>
          <p:cNvPr id="153" name="Google Shape;153;h1e918fe9f13658b9_0_3"/>
          <p:cNvCxnSpPr/>
          <p:nvPr/>
        </p:nvCxnSpPr>
        <p:spPr>
          <a:xfrm>
            <a:off x="7905750" y="3524250"/>
            <a:ext cx="317700" cy="0"/>
          </a:xfrm>
          <a:prstGeom prst="straightConnector1">
            <a:avLst/>
          </a:prstGeom>
          <a:noFill/>
          <a:ln cap="flat" cmpd="sng" w="14600">
            <a:solidFill>
              <a:srgbClr val="EA580C"/>
            </a:solidFill>
            <a:prstDash val="solid"/>
            <a:round/>
            <a:headEnd len="sm" w="sm" type="none"/>
            <a:tailEnd len="med" w="med" type="triangle"/>
          </a:ln>
        </p:spPr>
      </p:cxnSp>
      <p:cxnSp>
        <p:nvCxnSpPr>
          <p:cNvPr id="154" name="Google Shape;154;h1e918fe9f13658b9_0_3"/>
          <p:cNvCxnSpPr/>
          <p:nvPr/>
        </p:nvCxnSpPr>
        <p:spPr>
          <a:xfrm>
            <a:off x="9429750" y="3524250"/>
            <a:ext cx="222300" cy="0"/>
          </a:xfrm>
          <a:prstGeom prst="straightConnector1">
            <a:avLst/>
          </a:prstGeom>
          <a:noFill/>
          <a:ln cap="flat" cmpd="sng" w="14600">
            <a:solidFill>
              <a:srgbClr val="EA580C"/>
            </a:solidFill>
            <a:prstDash val="solid"/>
            <a:round/>
            <a:headEnd len="sm" w="sm" type="none"/>
            <a:tailEnd len="med" w="med" type="triangle"/>
          </a:ln>
        </p:spPr>
      </p:cxnSp>
      <p:cxnSp>
        <p:nvCxnSpPr>
          <p:cNvPr id="155" name="Google Shape;155;h1e918fe9f13658b9_0_3"/>
          <p:cNvCxnSpPr/>
          <p:nvPr/>
        </p:nvCxnSpPr>
        <p:spPr>
          <a:xfrm>
            <a:off x="10795000" y="3524250"/>
            <a:ext cx="222300" cy="0"/>
          </a:xfrm>
          <a:prstGeom prst="straightConnector1">
            <a:avLst/>
          </a:prstGeom>
          <a:noFill/>
          <a:ln cap="flat" cmpd="sng" w="14600">
            <a:solidFill>
              <a:srgbClr val="16A34A"/>
            </a:solidFill>
            <a:prstDash val="solid"/>
            <a:round/>
            <a:headEnd len="sm" w="sm" type="none"/>
            <a:tailEnd len="med" w="med" type="triangle"/>
          </a:ln>
        </p:spPr>
      </p:cxnSp>
      <p:sp>
        <p:nvSpPr>
          <p:cNvPr id="156" name="Google Shape;156;h1e918fe9f13658b9_0_3"/>
          <p:cNvSpPr/>
          <p:nvPr/>
        </p:nvSpPr>
        <p:spPr>
          <a:xfrm>
            <a:off x="10769600" y="3289300"/>
            <a:ext cx="254100" cy="177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lang="en-US" sz="1000">
                <a:solidFill>
                  <a:srgbClr val="15803D"/>
                </a:solidFill>
                <a:latin typeface="Noto Sans"/>
                <a:ea typeface="Noto Sans"/>
                <a:cs typeface="Noto Sans"/>
                <a:sym typeface="Noto Sans"/>
              </a:rPr>
              <a:t>Sim</a:t>
            </a:r>
            <a:endParaRPr sz="900"/>
          </a:p>
        </p:txBody>
      </p:sp>
      <p:cxnSp>
        <p:nvCxnSpPr>
          <p:cNvPr id="157" name="Google Shape;157;h1e918fe9f13658b9_0_3"/>
          <p:cNvCxnSpPr/>
          <p:nvPr/>
        </p:nvCxnSpPr>
        <p:spPr>
          <a:xfrm rot="10800000">
            <a:off x="11461750" y="2508100"/>
            <a:ext cx="0" cy="666900"/>
          </a:xfrm>
          <a:prstGeom prst="straightConnector1">
            <a:avLst/>
          </a:prstGeom>
          <a:noFill/>
          <a:ln cap="flat" cmpd="sng" w="14600">
            <a:solidFill>
              <a:srgbClr val="16A34A"/>
            </a:solidFill>
            <a:prstDash val="solid"/>
            <a:round/>
            <a:headEnd len="sm" w="sm" type="none"/>
            <a:tailEnd len="med" w="med" type="triangle"/>
          </a:ln>
        </p:spPr>
      </p:cxnSp>
      <p:cxnSp>
        <p:nvCxnSpPr>
          <p:cNvPr id="158" name="Google Shape;158;h1e918fe9f13658b9_0_3"/>
          <p:cNvCxnSpPr/>
          <p:nvPr/>
        </p:nvCxnSpPr>
        <p:spPr>
          <a:xfrm>
            <a:off x="10223500" y="3968750"/>
            <a:ext cx="0" cy="698700"/>
          </a:xfrm>
          <a:prstGeom prst="straightConnector1">
            <a:avLst/>
          </a:prstGeom>
          <a:noFill/>
          <a:ln cap="flat" cmpd="sng" w="14600">
            <a:solidFill>
              <a:srgbClr val="DC2626"/>
            </a:solidFill>
            <a:prstDash val="solid"/>
            <a:round/>
            <a:headEnd len="sm" w="sm" type="none"/>
            <a:tailEnd len="sm" w="sm" type="none"/>
          </a:ln>
        </p:spPr>
      </p:cxnSp>
      <p:cxnSp>
        <p:nvCxnSpPr>
          <p:cNvPr id="159" name="Google Shape;159;h1e918fe9f13658b9_0_3"/>
          <p:cNvCxnSpPr/>
          <p:nvPr/>
        </p:nvCxnSpPr>
        <p:spPr>
          <a:xfrm>
            <a:off x="10223500" y="4667250"/>
            <a:ext cx="520800" cy="0"/>
          </a:xfrm>
          <a:prstGeom prst="straightConnector1">
            <a:avLst/>
          </a:prstGeom>
          <a:noFill/>
          <a:ln cap="flat" cmpd="sng" w="14600">
            <a:solidFill>
              <a:srgbClr val="DC2626"/>
            </a:solidFill>
            <a:prstDash val="solid"/>
            <a:round/>
            <a:headEnd len="sm" w="sm" type="none"/>
            <a:tailEnd len="sm" w="sm" type="none"/>
          </a:ln>
        </p:spPr>
      </p:cxnSp>
      <p:cxnSp>
        <p:nvCxnSpPr>
          <p:cNvPr id="160" name="Google Shape;160;h1e918fe9f13658b9_0_3"/>
          <p:cNvCxnSpPr/>
          <p:nvPr/>
        </p:nvCxnSpPr>
        <p:spPr>
          <a:xfrm>
            <a:off x="10744200" y="4667250"/>
            <a:ext cx="0" cy="254100"/>
          </a:xfrm>
          <a:prstGeom prst="straightConnector1">
            <a:avLst/>
          </a:prstGeom>
          <a:noFill/>
          <a:ln cap="flat" cmpd="sng" w="14600">
            <a:solidFill>
              <a:srgbClr val="DC2626"/>
            </a:solidFill>
            <a:prstDash val="solid"/>
            <a:round/>
            <a:headEnd len="sm" w="sm" type="none"/>
            <a:tailEnd len="med" w="med" type="triangle"/>
          </a:ln>
        </p:spPr>
      </p:cxnSp>
      <p:sp>
        <p:nvSpPr>
          <p:cNvPr id="161" name="Google Shape;161;h1e918fe9f13658b9_0_3"/>
          <p:cNvSpPr/>
          <p:nvPr/>
        </p:nvSpPr>
        <p:spPr>
          <a:xfrm>
            <a:off x="10331450" y="4184650"/>
            <a:ext cx="507900" cy="20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200">
                <a:solidFill>
                  <a:srgbClr val="B91C1C"/>
                </a:solidFill>
                <a:latin typeface="Noto Sans"/>
                <a:ea typeface="Noto Sans"/>
                <a:cs typeface="Noto Sans"/>
                <a:sym typeface="Noto Sans"/>
              </a:rPr>
              <a:t>Não</a:t>
            </a:r>
            <a:endParaRPr sz="900"/>
          </a:p>
        </p:txBody>
      </p:sp>
      <p:sp>
        <p:nvSpPr>
          <p:cNvPr id="162" name="Google Shape;162;h1e918fe9f13658b9_0_3"/>
          <p:cNvSpPr/>
          <p:nvPr/>
        </p:nvSpPr>
        <p:spPr>
          <a:xfrm>
            <a:off x="349250" y="6210300"/>
            <a:ext cx="1149330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200">
                <a:solidFill>
                  <a:srgbClr val="5B6678"/>
                </a:solidFill>
                <a:latin typeface="Noto Sans"/>
                <a:ea typeface="Noto Sans"/>
                <a:cs typeface="Noto Sans"/>
                <a:sym typeface="Noto Sans"/>
              </a:rPr>
              <a:t>Os valores são estimativas. As fontes disponíveis dependem dos dados, das configurações e dos provedores.</a:t>
            </a:r>
            <a:endParaRPr sz="9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6F1"/>
        </a:solidFill>
      </p:bgPr>
    </p:bg>
    <p:spTree>
      <p:nvGrpSpPr>
        <p:cNvPr id="167" name="Shape 167"/>
        <p:cNvGrpSpPr/>
        <p:nvPr/>
      </p:nvGrpSpPr>
      <p:grpSpPr>
        <a:xfrm>
          <a:off x="0" y="0"/>
          <a:ext cx="0" cy="0"/>
          <a:chOff x="0" y="0"/>
          <a:chExt cx="0" cy="0"/>
        </a:xfrm>
      </p:grpSpPr>
      <p:sp>
        <p:nvSpPr>
          <p:cNvPr id="168" name="Google Shape;168;p7"/>
          <p:cNvSpPr/>
          <p:nvPr/>
        </p:nvSpPr>
        <p:spPr>
          <a:xfrm>
            <a:off x="812782" y="812781"/>
            <a:ext cx="10883429" cy="23881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8202F"/>
              </a:buClr>
              <a:buSzPts val="1200"/>
              <a:buFont typeface="DM Sans"/>
              <a:buNone/>
            </a:pPr>
            <a:r>
              <a:rPr b="1" i="0" lang="en-US" sz="1200" u="none" cap="none" strike="noStrike">
                <a:solidFill>
                  <a:srgbClr val="C8202F"/>
                </a:solidFill>
                <a:latin typeface="DM Sans"/>
                <a:ea typeface="DM Sans"/>
                <a:cs typeface="DM Sans"/>
                <a:sym typeface="DM Sans"/>
              </a:rPr>
              <a:t>NOSSO MÉTODO · CHECAGENS</a:t>
            </a:r>
            <a:endParaRPr b="0" i="0" sz="1200" u="none" cap="none" strike="noStrike">
              <a:solidFill>
                <a:schemeClr val="dk1"/>
              </a:solidFill>
              <a:latin typeface="DM Sans"/>
              <a:ea typeface="DM Sans"/>
              <a:cs typeface="DM Sans"/>
              <a:sym typeface="DM Sans"/>
            </a:endParaRPr>
          </a:p>
        </p:txBody>
      </p:sp>
      <p:sp>
        <p:nvSpPr>
          <p:cNvPr id="169" name="Google Shape;169;p7"/>
          <p:cNvSpPr txBox="1"/>
          <p:nvPr>
            <p:ph type="title"/>
          </p:nvPr>
        </p:nvSpPr>
        <p:spPr>
          <a:xfrm>
            <a:off x="812782" y="1127754"/>
            <a:ext cx="10883429" cy="49272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1E1A1B"/>
              </a:buClr>
              <a:buSzPts val="3200"/>
              <a:buFont typeface="Rubik"/>
              <a:buNone/>
            </a:pPr>
            <a:r>
              <a:rPr b="1" i="0" lang="en-US" sz="3200">
                <a:solidFill>
                  <a:srgbClr val="1E1A1B"/>
                </a:solidFill>
                <a:latin typeface="Rubik"/>
                <a:ea typeface="Rubik"/>
                <a:cs typeface="Rubik"/>
                <a:sym typeface="Rubik"/>
              </a:rPr>
              <a:t>Cinco checagens a cada cálculo</a:t>
            </a:r>
            <a:endParaRPr sz="3200"/>
          </a:p>
        </p:txBody>
      </p:sp>
      <p:sp>
        <p:nvSpPr>
          <p:cNvPr id="170" name="Google Shape;170;p7"/>
          <p:cNvSpPr/>
          <p:nvPr/>
        </p:nvSpPr>
        <p:spPr>
          <a:xfrm>
            <a:off x="812782" y="1696641"/>
            <a:ext cx="10883429" cy="292028"/>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F4648"/>
              </a:buClr>
              <a:buSzPts val="1500"/>
              <a:buFont typeface="DM Sans"/>
              <a:buNone/>
            </a:pPr>
            <a:r>
              <a:rPr b="0" i="0" lang="en-US" sz="1500" u="none" cap="none" strike="noStrike">
                <a:solidFill>
                  <a:srgbClr val="4F4648"/>
                </a:solidFill>
                <a:latin typeface="DM Sans"/>
                <a:ea typeface="DM Sans"/>
                <a:cs typeface="DM Sans"/>
                <a:sym typeface="DM Sans"/>
              </a:rPr>
              <a:t>Rodam automaticamente no validar.py e alimentam a pontuação de confiança.</a:t>
            </a:r>
            <a:endParaRPr b="0" i="0" sz="1500" u="none" cap="none" strike="noStrike">
              <a:solidFill>
                <a:schemeClr val="dk1"/>
              </a:solidFill>
              <a:latin typeface="DM Sans"/>
              <a:ea typeface="DM Sans"/>
              <a:cs typeface="DM Sans"/>
              <a:sym typeface="DM Sans"/>
            </a:endParaRPr>
          </a:p>
        </p:txBody>
      </p:sp>
      <p:sp>
        <p:nvSpPr>
          <p:cNvPr id="171" name="Google Shape;171;p7"/>
          <p:cNvSpPr/>
          <p:nvPr/>
        </p:nvSpPr>
        <p:spPr>
          <a:xfrm>
            <a:off x="815957" y="2220441"/>
            <a:ext cx="2005265" cy="2176282"/>
          </a:xfrm>
          <a:prstGeom prst="roundRect">
            <a:avLst>
              <a:gd fmla="val 6175" name="adj"/>
            </a:avLst>
          </a:prstGeom>
          <a:solidFill>
            <a:srgbClr val="FFFFFF"/>
          </a:solidFill>
          <a:ln cap="flat" cmpd="sng" w="9525">
            <a:solidFill>
              <a:srgbClr val="E8DF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7"/>
          <p:cNvSpPr/>
          <p:nvPr/>
        </p:nvSpPr>
        <p:spPr>
          <a:xfrm>
            <a:off x="1021683" y="2426168"/>
            <a:ext cx="1644614" cy="256489"/>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8202F"/>
              </a:buClr>
              <a:buSzPts val="1300"/>
              <a:buFont typeface="Rubik"/>
              <a:buNone/>
            </a:pPr>
            <a:r>
              <a:rPr b="1" i="0" lang="en-US" sz="1300" u="none" cap="none" strike="noStrike">
                <a:solidFill>
                  <a:srgbClr val="C8202F"/>
                </a:solidFill>
                <a:latin typeface="Rubik"/>
                <a:ea typeface="Rubik"/>
                <a:cs typeface="Rubik"/>
                <a:sym typeface="Rubik"/>
              </a:rPr>
              <a:t>01</a:t>
            </a:r>
            <a:endParaRPr b="0" i="0" sz="1300" u="none" cap="none" strike="noStrike">
              <a:solidFill>
                <a:schemeClr val="dk1"/>
              </a:solidFill>
              <a:latin typeface="DM Sans"/>
              <a:ea typeface="DM Sans"/>
              <a:cs typeface="DM Sans"/>
              <a:sym typeface="DM Sans"/>
            </a:endParaRPr>
          </a:p>
        </p:txBody>
      </p:sp>
      <p:sp>
        <p:nvSpPr>
          <p:cNvPr id="173" name="Google Shape;173;p7"/>
          <p:cNvSpPr/>
          <p:nvPr/>
        </p:nvSpPr>
        <p:spPr>
          <a:xfrm>
            <a:off x="1021683" y="2733384"/>
            <a:ext cx="1644614" cy="25396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E1A1B"/>
              </a:buClr>
              <a:buSzPts val="1500"/>
              <a:buFont typeface="Rubik"/>
              <a:buNone/>
            </a:pPr>
            <a:r>
              <a:rPr b="1" i="0" lang="en-US" sz="1500" u="none" cap="none" strike="noStrike">
                <a:solidFill>
                  <a:srgbClr val="1E1A1B"/>
                </a:solidFill>
                <a:latin typeface="Rubik"/>
                <a:ea typeface="Rubik"/>
                <a:cs typeface="Rubik"/>
                <a:sym typeface="Rubik"/>
              </a:rPr>
              <a:t>Faixa de calorias</a:t>
            </a:r>
            <a:endParaRPr b="0" i="0" sz="1500" u="none" cap="none" strike="noStrike">
              <a:solidFill>
                <a:schemeClr val="dk1"/>
              </a:solidFill>
              <a:latin typeface="DM Sans"/>
              <a:ea typeface="DM Sans"/>
              <a:cs typeface="DM Sans"/>
              <a:sym typeface="DM Sans"/>
            </a:endParaRPr>
          </a:p>
        </p:txBody>
      </p:sp>
      <p:sp>
        <p:nvSpPr>
          <p:cNvPr id="174" name="Google Shape;174;p7"/>
          <p:cNvSpPr/>
          <p:nvPr/>
        </p:nvSpPr>
        <p:spPr>
          <a:xfrm>
            <a:off x="1021683" y="3038075"/>
            <a:ext cx="1644614" cy="487579"/>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F4648"/>
              </a:buClr>
              <a:buSzPts val="1300"/>
              <a:buFont typeface="DM Sans"/>
              <a:buNone/>
            </a:pPr>
            <a:r>
              <a:rPr b="0" i="0" lang="en-US" sz="1300" u="none" cap="none" strike="noStrike">
                <a:solidFill>
                  <a:srgbClr val="4F4648"/>
                </a:solidFill>
                <a:latin typeface="DM Sans"/>
                <a:ea typeface="DM Sans"/>
                <a:cs typeface="DM Sans"/>
                <a:sym typeface="DM Sans"/>
              </a:rPr>
              <a:t>Entre 20 e 3.500 kcal.</a:t>
            </a:r>
            <a:endParaRPr b="0" i="0" sz="1300" u="none" cap="none" strike="noStrike">
              <a:solidFill>
                <a:schemeClr val="dk1"/>
              </a:solidFill>
              <a:latin typeface="DM Sans"/>
              <a:ea typeface="DM Sans"/>
              <a:cs typeface="DM Sans"/>
              <a:sym typeface="DM Sans"/>
            </a:endParaRPr>
          </a:p>
        </p:txBody>
      </p:sp>
      <p:sp>
        <p:nvSpPr>
          <p:cNvPr id="175" name="Google Shape;175;p7"/>
          <p:cNvSpPr/>
          <p:nvPr/>
        </p:nvSpPr>
        <p:spPr>
          <a:xfrm>
            <a:off x="2954572" y="2220441"/>
            <a:ext cx="2005355" cy="2176282"/>
          </a:xfrm>
          <a:prstGeom prst="roundRect">
            <a:avLst>
              <a:gd fmla="val 6175" name="adj"/>
            </a:avLst>
          </a:prstGeom>
          <a:solidFill>
            <a:srgbClr val="FFFFFF"/>
          </a:solidFill>
          <a:ln cap="flat" cmpd="sng" w="9525">
            <a:solidFill>
              <a:srgbClr val="E8DF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7"/>
          <p:cNvSpPr/>
          <p:nvPr/>
        </p:nvSpPr>
        <p:spPr>
          <a:xfrm>
            <a:off x="3160297" y="2426168"/>
            <a:ext cx="1644704" cy="256489"/>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8202F"/>
              </a:buClr>
              <a:buSzPts val="1300"/>
              <a:buFont typeface="Rubik"/>
              <a:buNone/>
            </a:pPr>
            <a:r>
              <a:rPr b="1" i="0" lang="en-US" sz="1300" u="none" cap="none" strike="noStrike">
                <a:solidFill>
                  <a:srgbClr val="C8202F"/>
                </a:solidFill>
                <a:latin typeface="Rubik"/>
                <a:ea typeface="Rubik"/>
                <a:cs typeface="Rubik"/>
                <a:sym typeface="Rubik"/>
              </a:rPr>
              <a:t>02</a:t>
            </a:r>
            <a:endParaRPr b="0" i="0" sz="1300" u="none" cap="none" strike="noStrike">
              <a:solidFill>
                <a:schemeClr val="dk1"/>
              </a:solidFill>
              <a:latin typeface="DM Sans"/>
              <a:ea typeface="DM Sans"/>
              <a:cs typeface="DM Sans"/>
              <a:sym typeface="DM Sans"/>
            </a:endParaRPr>
          </a:p>
        </p:txBody>
      </p:sp>
      <p:sp>
        <p:nvSpPr>
          <p:cNvPr id="177" name="Google Shape;177;p7"/>
          <p:cNvSpPr/>
          <p:nvPr/>
        </p:nvSpPr>
        <p:spPr>
          <a:xfrm>
            <a:off x="3160297" y="2733384"/>
            <a:ext cx="1644704" cy="482528"/>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E1A1B"/>
              </a:buClr>
              <a:buSzPts val="1500"/>
              <a:buFont typeface="Rubik"/>
              <a:buNone/>
            </a:pPr>
            <a:r>
              <a:rPr b="1" i="0" lang="en-US" sz="1500" u="none" cap="none" strike="noStrike">
                <a:solidFill>
                  <a:srgbClr val="1E1A1B"/>
                </a:solidFill>
                <a:latin typeface="Rubik"/>
                <a:ea typeface="Rubik"/>
                <a:cs typeface="Rubik"/>
                <a:sym typeface="Rubik"/>
              </a:rPr>
              <a:t>Regra de Atwater</a:t>
            </a:r>
            <a:endParaRPr b="0" i="0" sz="1500" u="none" cap="none" strike="noStrike">
              <a:solidFill>
                <a:schemeClr val="dk1"/>
              </a:solidFill>
              <a:latin typeface="DM Sans"/>
              <a:ea typeface="DM Sans"/>
              <a:cs typeface="DM Sans"/>
              <a:sym typeface="DM Sans"/>
            </a:endParaRPr>
          </a:p>
        </p:txBody>
      </p:sp>
      <p:sp>
        <p:nvSpPr>
          <p:cNvPr id="178" name="Google Shape;178;p7"/>
          <p:cNvSpPr/>
          <p:nvPr/>
        </p:nvSpPr>
        <p:spPr>
          <a:xfrm>
            <a:off x="3160297" y="3266641"/>
            <a:ext cx="1644704" cy="949758"/>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F4648"/>
              </a:buClr>
              <a:buSzPts val="1300"/>
              <a:buFont typeface="DM Sans"/>
              <a:buNone/>
            </a:pPr>
            <a:r>
              <a:rPr b="0" i="0" lang="en-US" sz="1300" u="none" cap="none" strike="noStrike">
                <a:solidFill>
                  <a:srgbClr val="4F4648"/>
                </a:solidFill>
                <a:latin typeface="DM Sans"/>
                <a:ea typeface="DM Sans"/>
                <a:cs typeface="DM Sans"/>
                <a:sym typeface="DM Sans"/>
              </a:rPr>
              <a:t>4·proteína + 4·carboidrato + 9·gordura deve dar perto das calorias.</a:t>
            </a:r>
            <a:endParaRPr b="0" i="0" sz="1300" u="none" cap="none" strike="noStrike">
              <a:solidFill>
                <a:schemeClr val="dk1"/>
              </a:solidFill>
              <a:latin typeface="DM Sans"/>
              <a:ea typeface="DM Sans"/>
              <a:cs typeface="DM Sans"/>
              <a:sym typeface="DM Sans"/>
            </a:endParaRPr>
          </a:p>
        </p:txBody>
      </p:sp>
      <p:sp>
        <p:nvSpPr>
          <p:cNvPr id="179" name="Google Shape;179;p7"/>
          <p:cNvSpPr/>
          <p:nvPr/>
        </p:nvSpPr>
        <p:spPr>
          <a:xfrm>
            <a:off x="5093277" y="2220441"/>
            <a:ext cx="2005355" cy="2176282"/>
          </a:xfrm>
          <a:prstGeom prst="roundRect">
            <a:avLst>
              <a:gd fmla="val 6175" name="adj"/>
            </a:avLst>
          </a:prstGeom>
          <a:solidFill>
            <a:srgbClr val="FFFFFF"/>
          </a:solidFill>
          <a:ln cap="flat" cmpd="sng" w="9525">
            <a:solidFill>
              <a:srgbClr val="E8DF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7"/>
          <p:cNvSpPr/>
          <p:nvPr/>
        </p:nvSpPr>
        <p:spPr>
          <a:xfrm>
            <a:off x="5299003" y="2426168"/>
            <a:ext cx="1644704" cy="256489"/>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8202F"/>
              </a:buClr>
              <a:buSzPts val="1300"/>
              <a:buFont typeface="Rubik"/>
              <a:buNone/>
            </a:pPr>
            <a:r>
              <a:rPr b="1" i="0" lang="en-US" sz="1300" u="none" cap="none" strike="noStrike">
                <a:solidFill>
                  <a:srgbClr val="C8202F"/>
                </a:solidFill>
                <a:latin typeface="Rubik"/>
                <a:ea typeface="Rubik"/>
                <a:cs typeface="Rubik"/>
                <a:sym typeface="Rubik"/>
              </a:rPr>
              <a:t>03</a:t>
            </a:r>
            <a:endParaRPr b="0" i="0" sz="1300" u="none" cap="none" strike="noStrike">
              <a:solidFill>
                <a:schemeClr val="dk1"/>
              </a:solidFill>
              <a:latin typeface="DM Sans"/>
              <a:ea typeface="DM Sans"/>
              <a:cs typeface="DM Sans"/>
              <a:sym typeface="DM Sans"/>
            </a:endParaRPr>
          </a:p>
        </p:txBody>
      </p:sp>
      <p:sp>
        <p:nvSpPr>
          <p:cNvPr id="181" name="Google Shape;181;p7"/>
          <p:cNvSpPr/>
          <p:nvPr/>
        </p:nvSpPr>
        <p:spPr>
          <a:xfrm>
            <a:off x="5299003" y="2733384"/>
            <a:ext cx="1644704" cy="25396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E1A1B"/>
              </a:buClr>
              <a:buSzPts val="1500"/>
              <a:buFont typeface="Rubik"/>
              <a:buNone/>
            </a:pPr>
            <a:r>
              <a:rPr b="1" i="0" lang="en-US" sz="1500" u="none" cap="none" strike="noStrike">
                <a:solidFill>
                  <a:srgbClr val="1E1A1B"/>
                </a:solidFill>
                <a:latin typeface="Rubik"/>
                <a:ea typeface="Rubik"/>
                <a:cs typeface="Rubik"/>
                <a:sym typeface="Rubik"/>
              </a:rPr>
              <a:t>Peso do prato</a:t>
            </a:r>
            <a:endParaRPr b="0" i="0" sz="1500" u="none" cap="none" strike="noStrike">
              <a:solidFill>
                <a:schemeClr val="dk1"/>
              </a:solidFill>
              <a:latin typeface="DM Sans"/>
              <a:ea typeface="DM Sans"/>
              <a:cs typeface="DM Sans"/>
              <a:sym typeface="DM Sans"/>
            </a:endParaRPr>
          </a:p>
        </p:txBody>
      </p:sp>
      <p:sp>
        <p:nvSpPr>
          <p:cNvPr id="182" name="Google Shape;182;p7"/>
          <p:cNvSpPr/>
          <p:nvPr/>
        </p:nvSpPr>
        <p:spPr>
          <a:xfrm>
            <a:off x="5299003" y="3038075"/>
            <a:ext cx="1644704" cy="718668"/>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F4648"/>
              </a:buClr>
              <a:buSzPts val="1300"/>
              <a:buFont typeface="DM Sans"/>
              <a:buNone/>
            </a:pPr>
            <a:r>
              <a:rPr b="0" i="0" lang="en-US" sz="1300" u="none" cap="none" strike="noStrike">
                <a:solidFill>
                  <a:srgbClr val="4F4648"/>
                </a:solidFill>
                <a:latin typeface="DM Sans"/>
                <a:ea typeface="DM Sans"/>
                <a:cs typeface="DM Sans"/>
                <a:sym typeface="DM Sans"/>
              </a:rPr>
              <a:t>A soma dos macros não pode passar do peso do prato.</a:t>
            </a:r>
            <a:endParaRPr b="0" i="0" sz="1300" u="none" cap="none" strike="noStrike">
              <a:solidFill>
                <a:schemeClr val="dk1"/>
              </a:solidFill>
              <a:latin typeface="DM Sans"/>
              <a:ea typeface="DM Sans"/>
              <a:cs typeface="DM Sans"/>
              <a:sym typeface="DM Sans"/>
            </a:endParaRPr>
          </a:p>
        </p:txBody>
      </p:sp>
      <p:sp>
        <p:nvSpPr>
          <p:cNvPr id="183" name="Google Shape;183;p7"/>
          <p:cNvSpPr/>
          <p:nvPr/>
        </p:nvSpPr>
        <p:spPr>
          <a:xfrm>
            <a:off x="7231983" y="2220441"/>
            <a:ext cx="2005355" cy="2176282"/>
          </a:xfrm>
          <a:prstGeom prst="roundRect">
            <a:avLst>
              <a:gd fmla="val 6175" name="adj"/>
            </a:avLst>
          </a:prstGeom>
          <a:solidFill>
            <a:srgbClr val="FFFFFF"/>
          </a:solidFill>
          <a:ln cap="flat" cmpd="sng" w="9525">
            <a:solidFill>
              <a:srgbClr val="E8DF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7"/>
          <p:cNvSpPr/>
          <p:nvPr/>
        </p:nvSpPr>
        <p:spPr>
          <a:xfrm>
            <a:off x="7437708" y="2426168"/>
            <a:ext cx="1644704" cy="256489"/>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8202F"/>
              </a:buClr>
              <a:buSzPts val="1300"/>
              <a:buFont typeface="Rubik"/>
              <a:buNone/>
            </a:pPr>
            <a:r>
              <a:rPr b="1" i="0" lang="en-US" sz="1300" u="none" cap="none" strike="noStrike">
                <a:solidFill>
                  <a:srgbClr val="C8202F"/>
                </a:solidFill>
                <a:latin typeface="Rubik"/>
                <a:ea typeface="Rubik"/>
                <a:cs typeface="Rubik"/>
                <a:sym typeface="Rubik"/>
              </a:rPr>
              <a:t>04</a:t>
            </a:r>
            <a:endParaRPr b="0" i="0" sz="1300" u="none" cap="none" strike="noStrike">
              <a:solidFill>
                <a:schemeClr val="dk1"/>
              </a:solidFill>
              <a:latin typeface="DM Sans"/>
              <a:ea typeface="DM Sans"/>
              <a:cs typeface="DM Sans"/>
              <a:sym typeface="DM Sans"/>
            </a:endParaRPr>
          </a:p>
        </p:txBody>
      </p:sp>
      <p:sp>
        <p:nvSpPr>
          <p:cNvPr id="185" name="Google Shape;185;p7"/>
          <p:cNvSpPr/>
          <p:nvPr/>
        </p:nvSpPr>
        <p:spPr>
          <a:xfrm>
            <a:off x="7437708" y="2733384"/>
            <a:ext cx="1644704" cy="25396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E1A1B"/>
              </a:buClr>
              <a:buSzPts val="1500"/>
              <a:buFont typeface="Rubik"/>
              <a:buNone/>
            </a:pPr>
            <a:r>
              <a:rPr b="1" i="0" lang="en-US" sz="1500" u="none" cap="none" strike="noStrike">
                <a:solidFill>
                  <a:srgbClr val="1E1A1B"/>
                </a:solidFill>
                <a:latin typeface="Rubik"/>
                <a:ea typeface="Rubik"/>
                <a:cs typeface="Rubik"/>
                <a:sym typeface="Rubik"/>
              </a:rPr>
              <a:t>Dispersão</a:t>
            </a:r>
            <a:endParaRPr b="0" i="0" sz="1500" u="none" cap="none" strike="noStrike">
              <a:solidFill>
                <a:schemeClr val="dk1"/>
              </a:solidFill>
              <a:latin typeface="DM Sans"/>
              <a:ea typeface="DM Sans"/>
              <a:cs typeface="DM Sans"/>
              <a:sym typeface="DM Sans"/>
            </a:endParaRPr>
          </a:p>
        </p:txBody>
      </p:sp>
      <p:sp>
        <p:nvSpPr>
          <p:cNvPr id="186" name="Google Shape;186;p7"/>
          <p:cNvSpPr/>
          <p:nvPr/>
        </p:nvSpPr>
        <p:spPr>
          <a:xfrm>
            <a:off x="7437708" y="3038075"/>
            <a:ext cx="1644704" cy="718668"/>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F4648"/>
              </a:buClr>
              <a:buSzPts val="1300"/>
              <a:buFont typeface="DM Sans"/>
              <a:buNone/>
            </a:pPr>
            <a:r>
              <a:rPr b="0" i="0" lang="en-US" sz="1300" u="none" cap="none" strike="noStrike">
                <a:solidFill>
                  <a:srgbClr val="4F4648"/>
                </a:solidFill>
                <a:latin typeface="DM Sans"/>
                <a:ea typeface="DM Sans"/>
                <a:cs typeface="DM Sans"/>
                <a:sym typeface="DM Sans"/>
              </a:rPr>
              <a:t>Entre as estimativas: (maior − menor) / mediana.</a:t>
            </a:r>
            <a:endParaRPr b="0" i="0" sz="1300" u="none" cap="none" strike="noStrike">
              <a:solidFill>
                <a:schemeClr val="dk1"/>
              </a:solidFill>
              <a:latin typeface="DM Sans"/>
              <a:ea typeface="DM Sans"/>
              <a:cs typeface="DM Sans"/>
              <a:sym typeface="DM Sans"/>
            </a:endParaRPr>
          </a:p>
        </p:txBody>
      </p:sp>
      <p:sp>
        <p:nvSpPr>
          <p:cNvPr id="187" name="Google Shape;187;p7"/>
          <p:cNvSpPr/>
          <p:nvPr/>
        </p:nvSpPr>
        <p:spPr>
          <a:xfrm>
            <a:off x="9370688" y="2220441"/>
            <a:ext cx="2005355" cy="2176282"/>
          </a:xfrm>
          <a:prstGeom prst="roundRect">
            <a:avLst>
              <a:gd fmla="val 6175" name="adj"/>
            </a:avLst>
          </a:prstGeom>
          <a:solidFill>
            <a:srgbClr val="FFFFFF"/>
          </a:solidFill>
          <a:ln cap="flat" cmpd="sng" w="9525">
            <a:solidFill>
              <a:srgbClr val="E8DF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7"/>
          <p:cNvSpPr/>
          <p:nvPr/>
        </p:nvSpPr>
        <p:spPr>
          <a:xfrm>
            <a:off x="9576413" y="2426168"/>
            <a:ext cx="1644704" cy="256489"/>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8202F"/>
              </a:buClr>
              <a:buSzPts val="1300"/>
              <a:buFont typeface="Rubik"/>
              <a:buNone/>
            </a:pPr>
            <a:r>
              <a:rPr b="1" i="0" lang="en-US" sz="1300" u="none" cap="none" strike="noStrike">
                <a:solidFill>
                  <a:srgbClr val="C8202F"/>
                </a:solidFill>
                <a:latin typeface="Rubik"/>
                <a:ea typeface="Rubik"/>
                <a:cs typeface="Rubik"/>
                <a:sym typeface="Rubik"/>
              </a:rPr>
              <a:t>05</a:t>
            </a:r>
            <a:endParaRPr b="0" i="0" sz="1300" u="none" cap="none" strike="noStrike">
              <a:solidFill>
                <a:schemeClr val="dk1"/>
              </a:solidFill>
              <a:latin typeface="DM Sans"/>
              <a:ea typeface="DM Sans"/>
              <a:cs typeface="DM Sans"/>
              <a:sym typeface="DM Sans"/>
            </a:endParaRPr>
          </a:p>
        </p:txBody>
      </p:sp>
      <p:sp>
        <p:nvSpPr>
          <p:cNvPr id="189" name="Google Shape;189;p7"/>
          <p:cNvSpPr/>
          <p:nvPr/>
        </p:nvSpPr>
        <p:spPr>
          <a:xfrm>
            <a:off x="9576413" y="2733384"/>
            <a:ext cx="1644704" cy="25396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E1A1B"/>
              </a:buClr>
              <a:buSzPts val="1500"/>
              <a:buFont typeface="Rubik"/>
              <a:buNone/>
            </a:pPr>
            <a:r>
              <a:rPr b="1" i="0" lang="en-US" sz="1500" u="none" cap="none" strike="noStrike">
                <a:solidFill>
                  <a:srgbClr val="1E1A1B"/>
                </a:solidFill>
                <a:latin typeface="Rubik"/>
                <a:ea typeface="Rubik"/>
                <a:cs typeface="Rubik"/>
                <a:sym typeface="Rubik"/>
              </a:rPr>
              <a:t>Divergência</a:t>
            </a:r>
            <a:endParaRPr b="0" i="0" sz="1500" u="none" cap="none" strike="noStrike">
              <a:solidFill>
                <a:schemeClr val="dk1"/>
              </a:solidFill>
              <a:latin typeface="DM Sans"/>
              <a:ea typeface="DM Sans"/>
              <a:cs typeface="DM Sans"/>
              <a:sym typeface="DM Sans"/>
            </a:endParaRPr>
          </a:p>
        </p:txBody>
      </p:sp>
      <p:sp>
        <p:nvSpPr>
          <p:cNvPr id="190" name="Google Shape;190;p7"/>
          <p:cNvSpPr/>
          <p:nvPr/>
        </p:nvSpPr>
        <p:spPr>
          <a:xfrm>
            <a:off x="9576413" y="3038075"/>
            <a:ext cx="1644704" cy="718668"/>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F4648"/>
              </a:buClr>
              <a:buSzPts val="1300"/>
              <a:buFont typeface="DM Sans"/>
              <a:buNone/>
            </a:pPr>
            <a:r>
              <a:rPr b="0" i="0" lang="en-US" sz="1300" u="none" cap="none" strike="noStrike">
                <a:solidFill>
                  <a:srgbClr val="4F4648"/>
                </a:solidFill>
                <a:latin typeface="DM Sans"/>
                <a:ea typeface="DM Sans"/>
                <a:cs typeface="DM Sans"/>
                <a:sym typeface="DM Sans"/>
              </a:rPr>
              <a:t>Entre a fonte publicada e a estimativa.</a:t>
            </a:r>
            <a:endParaRPr b="0" i="0" sz="1300" u="none" cap="none" strike="noStrike">
              <a:solidFill>
                <a:schemeClr val="dk1"/>
              </a:solidFill>
              <a:latin typeface="DM Sans"/>
              <a:ea typeface="DM Sans"/>
              <a:cs typeface="DM Sans"/>
              <a:sym typeface="DM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6F1"/>
        </a:solidFill>
      </p:bgPr>
    </p:bg>
    <p:spTree>
      <p:nvGrpSpPr>
        <p:cNvPr id="195" name="Shape 195"/>
        <p:cNvGrpSpPr/>
        <p:nvPr/>
      </p:nvGrpSpPr>
      <p:grpSpPr>
        <a:xfrm>
          <a:off x="0" y="0"/>
          <a:ext cx="0" cy="0"/>
          <a:chOff x="0" y="0"/>
          <a:chExt cx="0" cy="0"/>
        </a:xfrm>
      </p:grpSpPr>
      <p:sp>
        <p:nvSpPr>
          <p:cNvPr id="196" name="Google Shape;196;h1e918fe9f13658b9_0_87"/>
          <p:cNvSpPr/>
          <p:nvPr/>
        </p:nvSpPr>
        <p:spPr>
          <a:xfrm>
            <a:off x="812782" y="812781"/>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8202F"/>
              </a:buClr>
              <a:buSzPts val="1200"/>
              <a:buFont typeface="DM Sans"/>
              <a:buNone/>
            </a:pPr>
            <a:r>
              <a:rPr b="1" i="0" lang="en-US" sz="1200" u="none" cap="none" strike="noStrike">
                <a:solidFill>
                  <a:srgbClr val="C8202F"/>
                </a:solidFill>
                <a:latin typeface="DM Sans"/>
                <a:ea typeface="DM Sans"/>
                <a:cs typeface="DM Sans"/>
                <a:sym typeface="DM Sans"/>
              </a:rPr>
              <a:t>NOSSO MÉTODO · </a:t>
            </a:r>
            <a:r>
              <a:rPr b="1" lang="en-US" sz="1200">
                <a:solidFill>
                  <a:srgbClr val="C8202F"/>
                </a:solidFill>
                <a:latin typeface="DM Sans"/>
                <a:ea typeface="DM Sans"/>
                <a:cs typeface="DM Sans"/>
                <a:sym typeface="DM Sans"/>
              </a:rPr>
              <a:t>Personalização</a:t>
            </a:r>
            <a:endParaRPr b="0" i="0" sz="1200" u="none" cap="none" strike="noStrike">
              <a:solidFill>
                <a:schemeClr val="dk1"/>
              </a:solidFill>
              <a:latin typeface="DM Sans"/>
              <a:ea typeface="DM Sans"/>
              <a:cs typeface="DM Sans"/>
              <a:sym typeface="DM Sans"/>
            </a:endParaRPr>
          </a:p>
        </p:txBody>
      </p:sp>
      <p:sp>
        <p:nvSpPr>
          <p:cNvPr id="197" name="Google Shape;197;h1e918fe9f13658b9_0_87"/>
          <p:cNvSpPr txBox="1"/>
          <p:nvPr>
            <p:ph type="title"/>
          </p:nvPr>
        </p:nvSpPr>
        <p:spPr>
          <a:xfrm>
            <a:off x="812782" y="1127754"/>
            <a:ext cx="10883400" cy="49260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1E1A1B"/>
              </a:buClr>
              <a:buSzPts val="3200"/>
              <a:buFont typeface="Rubik"/>
              <a:buNone/>
            </a:pPr>
            <a:r>
              <a:rPr b="1" lang="en-US"/>
              <a:t>Personalização por prompt</a:t>
            </a:r>
            <a:endParaRPr sz="3200"/>
          </a:p>
        </p:txBody>
      </p:sp>
      <p:sp>
        <p:nvSpPr>
          <p:cNvPr id="198" name="Google Shape;198;h1e918fe9f13658b9_0_87"/>
          <p:cNvSpPr/>
          <p:nvPr/>
        </p:nvSpPr>
        <p:spPr>
          <a:xfrm>
            <a:off x="812782" y="1696641"/>
            <a:ext cx="10883400" cy="291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F4648"/>
              </a:buClr>
              <a:buSzPts val="1500"/>
              <a:buFont typeface="DM Sans"/>
              <a:buNone/>
            </a:pPr>
            <a:r>
              <a:rPr lang="en-US" sz="1500">
                <a:solidFill>
                  <a:srgbClr val="4F4648"/>
                </a:solidFill>
                <a:latin typeface="DM Sans"/>
                <a:ea typeface="DM Sans"/>
                <a:cs typeface="DM Sans"/>
                <a:sym typeface="DM Sans"/>
              </a:rPr>
              <a:t>O </a:t>
            </a:r>
            <a:r>
              <a:rPr lang="en-US" sz="1500">
                <a:solidFill>
                  <a:srgbClr val="4F4648"/>
                </a:solidFill>
                <a:latin typeface="DM Sans"/>
                <a:ea typeface="DM Sans"/>
                <a:cs typeface="DM Sans"/>
                <a:sym typeface="DM Sans"/>
              </a:rPr>
              <a:t>usuário</a:t>
            </a:r>
            <a:r>
              <a:rPr lang="en-US" sz="1500">
                <a:solidFill>
                  <a:srgbClr val="4F4648"/>
                </a:solidFill>
                <a:latin typeface="DM Sans"/>
                <a:ea typeface="DM Sans"/>
                <a:cs typeface="DM Sans"/>
                <a:sym typeface="DM Sans"/>
              </a:rPr>
              <a:t> pode personalizar a sua busca por meio de um prompt com o assistente de IA</a:t>
            </a:r>
            <a:endParaRPr b="0" i="0" sz="1500" u="none" cap="none" strike="noStrike">
              <a:solidFill>
                <a:schemeClr val="dk1"/>
              </a:solidFill>
              <a:latin typeface="DM Sans"/>
              <a:ea typeface="DM Sans"/>
              <a:cs typeface="DM Sans"/>
              <a:sym typeface="DM Sans"/>
            </a:endParaRPr>
          </a:p>
        </p:txBody>
      </p:sp>
      <p:sp>
        <p:nvSpPr>
          <p:cNvPr id="199" name="Google Shape;199;h1e918fe9f13658b9_0_87"/>
          <p:cNvSpPr/>
          <p:nvPr/>
        </p:nvSpPr>
        <p:spPr>
          <a:xfrm>
            <a:off x="812775" y="2385800"/>
            <a:ext cx="3438600" cy="347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8202F"/>
              </a:buClr>
              <a:buSzPts val="1300"/>
              <a:buFont typeface="Rubik"/>
              <a:buNone/>
            </a:pPr>
            <a:r>
              <a:rPr b="1" lang="en-US" sz="1700">
                <a:solidFill>
                  <a:srgbClr val="C8202F"/>
                </a:solidFill>
                <a:latin typeface="Rubik"/>
                <a:ea typeface="Rubik"/>
                <a:cs typeface="Rubik"/>
                <a:sym typeface="Rubik"/>
              </a:rPr>
              <a:t>Filtrar a busca por preferencia</a:t>
            </a:r>
            <a:endParaRPr b="0" i="0" sz="1700" u="none" cap="none" strike="noStrike">
              <a:solidFill>
                <a:schemeClr val="dk1"/>
              </a:solidFill>
              <a:latin typeface="DM Sans"/>
              <a:ea typeface="DM Sans"/>
              <a:cs typeface="DM Sans"/>
              <a:sym typeface="DM Sans"/>
            </a:endParaRPr>
          </a:p>
        </p:txBody>
      </p:sp>
      <p:sp>
        <p:nvSpPr>
          <p:cNvPr id="200" name="Google Shape;200;h1e918fe9f13658b9_0_87"/>
          <p:cNvSpPr/>
          <p:nvPr/>
        </p:nvSpPr>
        <p:spPr>
          <a:xfrm>
            <a:off x="812767" y="2733507"/>
            <a:ext cx="3303600" cy="792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E1A1B"/>
              </a:buClr>
              <a:buSzPts val="1500"/>
              <a:buFont typeface="Rubik"/>
              <a:buNone/>
            </a:pPr>
            <a:r>
              <a:rPr b="1" lang="en-US" sz="1500">
                <a:solidFill>
                  <a:srgbClr val="1E1A1B"/>
                </a:solidFill>
                <a:latin typeface="Rubik"/>
                <a:ea typeface="Rubik"/>
                <a:cs typeface="Rubik"/>
                <a:sym typeface="Rubik"/>
              </a:rPr>
              <a:t>O usuário define suas preferencias e o agente filtra a busca por calorias, proteinas, preço, carbohidratos, gordura, dentre outros.</a:t>
            </a:r>
            <a:endParaRPr b="0" i="0" sz="1500" u="none" cap="none" strike="noStrike">
              <a:solidFill>
                <a:schemeClr val="dk1"/>
              </a:solidFill>
              <a:latin typeface="DM Sans"/>
              <a:ea typeface="DM Sans"/>
              <a:cs typeface="DM Sans"/>
              <a:sym typeface="DM Sans"/>
            </a:endParaRPr>
          </a:p>
        </p:txBody>
      </p:sp>
      <p:sp>
        <p:nvSpPr>
          <p:cNvPr id="201" name="Google Shape;201;h1e918fe9f13658b9_0_87"/>
          <p:cNvSpPr/>
          <p:nvPr/>
        </p:nvSpPr>
        <p:spPr>
          <a:xfrm>
            <a:off x="1276233" y="3134675"/>
            <a:ext cx="1644600" cy="48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F4648"/>
              </a:buClr>
              <a:buSzPts val="1300"/>
              <a:buFont typeface="DM Sans"/>
              <a:buNone/>
            </a:pPr>
            <a:r>
              <a:t/>
            </a:r>
            <a:endParaRPr b="0" i="0" sz="1300" u="none" cap="none" strike="noStrike">
              <a:solidFill>
                <a:schemeClr val="dk1"/>
              </a:solidFill>
              <a:latin typeface="DM Sans"/>
              <a:ea typeface="DM Sans"/>
              <a:cs typeface="DM Sans"/>
              <a:sym typeface="DM Sans"/>
            </a:endParaRPr>
          </a:p>
        </p:txBody>
      </p:sp>
      <p:sp>
        <p:nvSpPr>
          <p:cNvPr id="202" name="Google Shape;202;h1e918fe9f13658b9_0_87"/>
          <p:cNvSpPr/>
          <p:nvPr/>
        </p:nvSpPr>
        <p:spPr>
          <a:xfrm>
            <a:off x="4616350" y="2385800"/>
            <a:ext cx="3438600" cy="347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8202F"/>
              </a:buClr>
              <a:buSzPts val="1300"/>
              <a:buFont typeface="Rubik"/>
              <a:buNone/>
            </a:pPr>
            <a:r>
              <a:rPr b="1" lang="en-US" sz="1700">
                <a:solidFill>
                  <a:srgbClr val="C8202F"/>
                </a:solidFill>
                <a:latin typeface="Rubik"/>
                <a:ea typeface="Rubik"/>
                <a:cs typeface="Rubik"/>
                <a:sym typeface="Rubik"/>
              </a:rPr>
              <a:t>Montar pedido por preferencia</a:t>
            </a:r>
            <a:endParaRPr b="0" i="0" sz="1700" u="none" cap="none" strike="noStrike">
              <a:solidFill>
                <a:schemeClr val="dk1"/>
              </a:solidFill>
              <a:latin typeface="DM Sans"/>
              <a:ea typeface="DM Sans"/>
              <a:cs typeface="DM Sans"/>
              <a:sym typeface="DM Sans"/>
            </a:endParaRPr>
          </a:p>
        </p:txBody>
      </p:sp>
      <p:sp>
        <p:nvSpPr>
          <p:cNvPr id="203" name="Google Shape;203;h1e918fe9f13658b9_0_87"/>
          <p:cNvSpPr/>
          <p:nvPr/>
        </p:nvSpPr>
        <p:spPr>
          <a:xfrm>
            <a:off x="4616342" y="2733507"/>
            <a:ext cx="3303600" cy="792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E1A1B"/>
              </a:buClr>
              <a:buSzPts val="1500"/>
              <a:buFont typeface="Rubik"/>
              <a:buNone/>
            </a:pPr>
            <a:r>
              <a:rPr b="1" lang="en-US" sz="1500">
                <a:solidFill>
                  <a:srgbClr val="1E1A1B"/>
                </a:solidFill>
                <a:latin typeface="Rubik"/>
                <a:ea typeface="Rubik"/>
                <a:cs typeface="Rubik"/>
                <a:sym typeface="Rubik"/>
              </a:rPr>
              <a:t>O usuário define suas preferencias e o agente monta o pedido levando em consideraç</a:t>
            </a:r>
            <a:r>
              <a:rPr b="1" lang="en-US" sz="1500">
                <a:solidFill>
                  <a:srgbClr val="1E1A1B"/>
                </a:solidFill>
                <a:latin typeface="Rubik"/>
                <a:ea typeface="Rubik"/>
                <a:cs typeface="Rubik"/>
                <a:sym typeface="Rubik"/>
              </a:rPr>
              <a:t>ão as calorias, proteínas, preço, carboidratos, lipídeos, entre outros.</a:t>
            </a:r>
            <a:endParaRPr b="0" i="0" sz="1500" u="none" cap="none" strike="noStrike">
              <a:solidFill>
                <a:schemeClr val="dk1"/>
              </a:solidFill>
              <a:latin typeface="DM Sans"/>
              <a:ea typeface="DM Sans"/>
              <a:cs typeface="DM Sans"/>
              <a:sym typeface="DM Sans"/>
            </a:endParaRPr>
          </a:p>
        </p:txBody>
      </p:sp>
      <p:sp>
        <p:nvSpPr>
          <p:cNvPr id="204" name="Google Shape;204;h1e918fe9f13658b9_0_87"/>
          <p:cNvSpPr/>
          <p:nvPr/>
        </p:nvSpPr>
        <p:spPr>
          <a:xfrm>
            <a:off x="5079808" y="3134675"/>
            <a:ext cx="1644600" cy="48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F4648"/>
              </a:buClr>
              <a:buSzPts val="1300"/>
              <a:buFont typeface="DM Sans"/>
              <a:buNone/>
            </a:pPr>
            <a:r>
              <a:t/>
            </a:r>
            <a:endParaRPr b="0" i="0" sz="1300" u="none" cap="none" strike="noStrike">
              <a:solidFill>
                <a:schemeClr val="dk1"/>
              </a:solidFill>
              <a:latin typeface="DM Sans"/>
              <a:ea typeface="DM Sans"/>
              <a:cs typeface="DM Sans"/>
              <a:sym typeface="DM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6F1"/>
        </a:solidFill>
      </p:bgPr>
    </p:bg>
    <p:spTree>
      <p:nvGrpSpPr>
        <p:cNvPr id="209" name="Shape 209"/>
        <p:cNvGrpSpPr/>
        <p:nvPr/>
      </p:nvGrpSpPr>
      <p:grpSpPr>
        <a:xfrm>
          <a:off x="0" y="0"/>
          <a:ext cx="0" cy="0"/>
          <a:chOff x="0" y="0"/>
          <a:chExt cx="0" cy="0"/>
        </a:xfrm>
      </p:grpSpPr>
      <p:sp>
        <p:nvSpPr>
          <p:cNvPr id="210" name="Google Shape;210;p8"/>
          <p:cNvSpPr/>
          <p:nvPr/>
        </p:nvSpPr>
        <p:spPr>
          <a:xfrm>
            <a:off x="812782" y="812784"/>
            <a:ext cx="10883429" cy="23881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8202F"/>
              </a:buClr>
              <a:buSzPts val="1200"/>
              <a:buFont typeface="DM Sans"/>
              <a:buNone/>
            </a:pPr>
            <a:r>
              <a:rPr b="1" i="0" lang="en-US" sz="1200" u="none" cap="none" strike="noStrike">
                <a:solidFill>
                  <a:srgbClr val="C8202F"/>
                </a:solidFill>
                <a:latin typeface="DM Sans"/>
                <a:ea typeface="DM Sans"/>
                <a:cs typeface="DM Sans"/>
                <a:sym typeface="DM Sans"/>
              </a:rPr>
              <a:t>VALOR PARA O IFOOD</a:t>
            </a:r>
            <a:endParaRPr b="0" i="0" sz="1200" u="none" cap="none" strike="noStrike">
              <a:solidFill>
                <a:schemeClr val="dk1"/>
              </a:solidFill>
              <a:latin typeface="DM Sans"/>
              <a:ea typeface="DM Sans"/>
              <a:cs typeface="DM Sans"/>
              <a:sym typeface="DM Sans"/>
            </a:endParaRPr>
          </a:p>
        </p:txBody>
      </p:sp>
      <p:sp>
        <p:nvSpPr>
          <p:cNvPr id="211" name="Google Shape;211;p8"/>
          <p:cNvSpPr txBox="1"/>
          <p:nvPr>
            <p:ph type="title"/>
          </p:nvPr>
        </p:nvSpPr>
        <p:spPr>
          <a:xfrm>
            <a:off x="812782" y="1127758"/>
            <a:ext cx="10883429" cy="49272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1E1A1B"/>
              </a:buClr>
              <a:buSzPts val="3200"/>
              <a:buFont typeface="Rubik"/>
              <a:buNone/>
            </a:pPr>
            <a:r>
              <a:rPr b="1" i="0" lang="en-US" sz="3200">
                <a:solidFill>
                  <a:srgbClr val="1E1A1B"/>
                </a:solidFill>
                <a:latin typeface="Rubik"/>
                <a:ea typeface="Rubik"/>
                <a:cs typeface="Rubik"/>
                <a:sym typeface="Rubik"/>
              </a:rPr>
              <a:t>Hipóteses de impacto e como validá-las</a:t>
            </a:r>
            <a:endParaRPr sz="3200"/>
          </a:p>
        </p:txBody>
      </p:sp>
      <p:sp>
        <p:nvSpPr>
          <p:cNvPr id="212" name="Google Shape;212;p8"/>
          <p:cNvSpPr/>
          <p:nvPr/>
        </p:nvSpPr>
        <p:spPr>
          <a:xfrm>
            <a:off x="815957" y="1953816"/>
            <a:ext cx="5181077" cy="4088227"/>
          </a:xfrm>
          <a:prstGeom prst="roundRect">
            <a:avLst>
              <a:gd fmla="val 3650" name="adj"/>
            </a:avLst>
          </a:prstGeom>
          <a:solidFill>
            <a:srgbClr val="FFFFFF"/>
          </a:solidFill>
          <a:ln cap="flat" cmpd="sng" w="9525">
            <a:solidFill>
              <a:srgbClr val="E8DF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8"/>
          <p:cNvSpPr/>
          <p:nvPr/>
        </p:nvSpPr>
        <p:spPr>
          <a:xfrm>
            <a:off x="1123337" y="2261195"/>
            <a:ext cx="4703307" cy="330182"/>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E1A1B"/>
              </a:buClr>
              <a:buSzPts val="2000"/>
              <a:buFont typeface="Rubik"/>
              <a:buNone/>
            </a:pPr>
            <a:r>
              <a:rPr b="1" i="0" lang="en-US" sz="2000" u="none" cap="none" strike="noStrike">
                <a:solidFill>
                  <a:srgbClr val="1E1A1B"/>
                </a:solidFill>
                <a:latin typeface="Rubik"/>
                <a:ea typeface="Rubik"/>
                <a:cs typeface="Rubik"/>
                <a:sym typeface="Rubik"/>
              </a:rPr>
              <a:t>Como pode gerar valor</a:t>
            </a:r>
            <a:endParaRPr b="0" i="0" sz="2000" u="none" cap="none" strike="noStrike">
              <a:solidFill>
                <a:schemeClr val="dk1"/>
              </a:solidFill>
              <a:latin typeface="DM Sans"/>
              <a:ea typeface="DM Sans"/>
              <a:cs typeface="DM Sans"/>
              <a:sym typeface="DM Sans"/>
            </a:endParaRPr>
          </a:p>
        </p:txBody>
      </p:sp>
      <p:sp>
        <p:nvSpPr>
          <p:cNvPr id="214" name="Google Shape;214;p8"/>
          <p:cNvSpPr/>
          <p:nvPr/>
        </p:nvSpPr>
        <p:spPr>
          <a:xfrm>
            <a:off x="1123337" y="2705605"/>
            <a:ext cx="4870522" cy="274259"/>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8202F"/>
              </a:buClr>
              <a:buSzPts val="1400"/>
              <a:buFont typeface="DM Sans"/>
              <a:buNone/>
            </a:pPr>
            <a:r>
              <a:rPr b="1" i="0" lang="en-US" sz="1400" u="none" cap="none" strike="noStrike">
                <a:solidFill>
                  <a:srgbClr val="C8202F"/>
                </a:solidFill>
                <a:latin typeface="DM Sans"/>
                <a:ea typeface="DM Sans"/>
                <a:cs typeface="DM Sans"/>
                <a:sym typeface="DM Sans"/>
              </a:rPr>
              <a:t>Conversão:</a:t>
            </a:r>
            <a:r>
              <a:rPr b="0" i="0" lang="en-US" sz="1400" u="none" cap="none" strike="noStrike">
                <a:solidFill>
                  <a:srgbClr val="4F4648"/>
                </a:solidFill>
                <a:latin typeface="DM Sans"/>
                <a:ea typeface="DM Sans"/>
                <a:cs typeface="DM Sans"/>
                <a:sym typeface="DM Sans"/>
              </a:rPr>
              <a:t> o cliente decide mais rápido entre pratos.</a:t>
            </a:r>
            <a:endParaRPr b="0" i="0" sz="1400" u="none" cap="none" strike="noStrike">
              <a:solidFill>
                <a:schemeClr val="dk1"/>
              </a:solidFill>
              <a:latin typeface="DM Sans"/>
              <a:ea typeface="DM Sans"/>
              <a:cs typeface="DM Sans"/>
              <a:sym typeface="DM Sans"/>
            </a:endParaRPr>
          </a:p>
        </p:txBody>
      </p:sp>
      <p:sp>
        <p:nvSpPr>
          <p:cNvPr id="215" name="Google Shape;215;p8"/>
          <p:cNvSpPr/>
          <p:nvPr/>
        </p:nvSpPr>
        <p:spPr>
          <a:xfrm>
            <a:off x="1123337" y="3094093"/>
            <a:ext cx="4703307" cy="52311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8202F"/>
              </a:buClr>
              <a:buSzPts val="1400"/>
              <a:buFont typeface="DM Sans"/>
              <a:buNone/>
            </a:pPr>
            <a:r>
              <a:rPr b="1" i="0" lang="en-US" sz="1400" u="none" cap="none" strike="noStrike">
                <a:solidFill>
                  <a:srgbClr val="C8202F"/>
                </a:solidFill>
                <a:latin typeface="DM Sans"/>
                <a:ea typeface="DM Sans"/>
                <a:cs typeface="DM Sans"/>
                <a:sym typeface="DM Sans"/>
              </a:rPr>
              <a:t>Frequência:</a:t>
            </a:r>
            <a:r>
              <a:rPr b="0" i="0" lang="en-US" sz="1400" u="none" cap="none" strike="noStrike">
                <a:solidFill>
                  <a:srgbClr val="4F4648"/>
                </a:solidFill>
                <a:latin typeface="DM Sans"/>
                <a:ea typeface="DM Sans"/>
                <a:cs typeface="DM Sans"/>
                <a:sym typeface="DM Sans"/>
              </a:rPr>
              <a:t> quem faz dieta e evita delivery passa a pedir mais.</a:t>
            </a:r>
            <a:endParaRPr b="0" i="0" sz="1400" u="none" cap="none" strike="noStrike">
              <a:solidFill>
                <a:schemeClr val="dk1"/>
              </a:solidFill>
              <a:latin typeface="DM Sans"/>
              <a:ea typeface="DM Sans"/>
              <a:cs typeface="DM Sans"/>
              <a:sym typeface="DM Sans"/>
            </a:endParaRPr>
          </a:p>
        </p:txBody>
      </p:sp>
      <p:sp>
        <p:nvSpPr>
          <p:cNvPr id="216" name="Google Shape;216;p8"/>
          <p:cNvSpPr/>
          <p:nvPr/>
        </p:nvSpPr>
        <p:spPr>
          <a:xfrm>
            <a:off x="1123337" y="3731437"/>
            <a:ext cx="4703307" cy="274259"/>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8202F"/>
              </a:buClr>
              <a:buSzPts val="1400"/>
              <a:buFont typeface="DM Sans"/>
              <a:buNone/>
            </a:pPr>
            <a:r>
              <a:rPr b="1" i="0" lang="en-US" sz="1400" u="none" cap="none" strike="noStrike">
                <a:solidFill>
                  <a:srgbClr val="C8202F"/>
                </a:solidFill>
                <a:latin typeface="DM Sans"/>
                <a:ea typeface="DM Sans"/>
                <a:cs typeface="DM Sans"/>
                <a:sym typeface="DM Sans"/>
              </a:rPr>
              <a:t>Retenção:</a:t>
            </a:r>
            <a:r>
              <a:rPr b="0" i="0" lang="en-US" sz="1400" u="none" cap="none" strike="noStrike">
                <a:solidFill>
                  <a:srgbClr val="4F4648"/>
                </a:solidFill>
                <a:latin typeface="DM Sans"/>
                <a:ea typeface="DM Sans"/>
                <a:cs typeface="DM Sans"/>
                <a:sym typeface="DM Sans"/>
              </a:rPr>
              <a:t> um motivo para escolher o iFood.</a:t>
            </a:r>
            <a:endParaRPr b="0" i="0" sz="1400" u="none" cap="none" strike="noStrike">
              <a:solidFill>
                <a:schemeClr val="dk1"/>
              </a:solidFill>
              <a:latin typeface="DM Sans"/>
              <a:ea typeface="DM Sans"/>
              <a:cs typeface="DM Sans"/>
              <a:sym typeface="DM Sans"/>
            </a:endParaRPr>
          </a:p>
        </p:txBody>
      </p:sp>
      <p:sp>
        <p:nvSpPr>
          <p:cNvPr id="217" name="Google Shape;217;p8"/>
          <p:cNvSpPr/>
          <p:nvPr/>
        </p:nvSpPr>
        <p:spPr>
          <a:xfrm>
            <a:off x="1123337" y="4119925"/>
            <a:ext cx="4870522" cy="274259"/>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8202F"/>
              </a:buClr>
              <a:buSzPts val="1400"/>
              <a:buFont typeface="DM Sans"/>
              <a:buNone/>
            </a:pPr>
            <a:r>
              <a:rPr b="1" i="0" lang="en-US" sz="1400" u="none" cap="none" strike="noStrike">
                <a:solidFill>
                  <a:srgbClr val="C8202F"/>
                </a:solidFill>
                <a:latin typeface="DM Sans"/>
                <a:ea typeface="DM Sans"/>
                <a:cs typeface="DM Sans"/>
                <a:sym typeface="DM Sans"/>
              </a:rPr>
              <a:t>Parceiros:</a:t>
            </a:r>
            <a:r>
              <a:rPr b="0" i="0" lang="en-US" sz="1400" u="none" cap="none" strike="noStrike">
                <a:solidFill>
                  <a:srgbClr val="4F4648"/>
                </a:solidFill>
                <a:latin typeface="DM Sans"/>
                <a:ea typeface="DM Sans"/>
                <a:cs typeface="DM Sans"/>
                <a:sym typeface="DM Sans"/>
              </a:rPr>
              <a:t> restaurantes saudáveis ganham visibilidade.</a:t>
            </a:r>
            <a:endParaRPr b="0" i="0" sz="1400" u="none" cap="none" strike="noStrike">
              <a:solidFill>
                <a:schemeClr val="dk1"/>
              </a:solidFill>
              <a:latin typeface="DM Sans"/>
              <a:ea typeface="DM Sans"/>
              <a:cs typeface="DM Sans"/>
              <a:sym typeface="DM Sans"/>
            </a:endParaRPr>
          </a:p>
        </p:txBody>
      </p:sp>
      <p:sp>
        <p:nvSpPr>
          <p:cNvPr id="218" name="Google Shape;218;p8"/>
          <p:cNvSpPr/>
          <p:nvPr/>
        </p:nvSpPr>
        <p:spPr>
          <a:xfrm>
            <a:off x="6203336" y="1950641"/>
            <a:ext cx="5175881" cy="4094577"/>
          </a:xfrm>
          <a:prstGeom prst="roundRect">
            <a:avLst>
              <a:gd fmla="val 3722" name="adj"/>
            </a:avLst>
          </a:prstGeom>
          <a:solidFill>
            <a:srgbClr val="1E1A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8"/>
          <p:cNvSpPr/>
          <p:nvPr/>
        </p:nvSpPr>
        <p:spPr>
          <a:xfrm>
            <a:off x="6508118" y="2255425"/>
            <a:ext cx="4703307" cy="330182"/>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AF6F1"/>
              </a:buClr>
              <a:buSzPts val="2000"/>
              <a:buFont typeface="Rubik"/>
              <a:buNone/>
            </a:pPr>
            <a:r>
              <a:rPr b="1" i="0" lang="en-US" sz="2000" u="none" cap="none" strike="noStrike">
                <a:solidFill>
                  <a:srgbClr val="FAF6F1"/>
                </a:solidFill>
                <a:latin typeface="Rubik"/>
                <a:ea typeface="Rubik"/>
                <a:cs typeface="Rubik"/>
                <a:sym typeface="Rubik"/>
              </a:rPr>
              <a:t>Como validar em um piloto</a:t>
            </a:r>
            <a:endParaRPr b="0" i="0" sz="2000" u="none" cap="none" strike="noStrike">
              <a:solidFill>
                <a:schemeClr val="dk1"/>
              </a:solidFill>
              <a:latin typeface="DM Sans"/>
              <a:ea typeface="DM Sans"/>
              <a:cs typeface="DM Sans"/>
              <a:sym typeface="DM Sans"/>
            </a:endParaRPr>
          </a:p>
        </p:txBody>
      </p:sp>
      <p:sp>
        <p:nvSpPr>
          <p:cNvPr id="220" name="Google Shape;220;p8"/>
          <p:cNvSpPr/>
          <p:nvPr/>
        </p:nvSpPr>
        <p:spPr>
          <a:xfrm>
            <a:off x="6508118" y="2699835"/>
            <a:ext cx="4703307" cy="52311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7A7C"/>
              </a:buClr>
              <a:buSzPts val="1400"/>
              <a:buFont typeface="DM Sans"/>
              <a:buNone/>
            </a:pPr>
            <a:r>
              <a:rPr b="1" i="0" lang="en-US" sz="1400" u="none" cap="none" strike="noStrike">
                <a:solidFill>
                  <a:srgbClr val="FF7A7C"/>
                </a:solidFill>
                <a:latin typeface="DM Sans"/>
                <a:ea typeface="DM Sans"/>
                <a:cs typeface="DM Sans"/>
                <a:sym typeface="DM Sans"/>
              </a:rPr>
              <a:t>Teste A/B:</a:t>
            </a:r>
            <a:r>
              <a:rPr b="0" i="0" lang="en-US" sz="1400" u="none" cap="none" strike="noStrike">
                <a:solidFill>
                  <a:srgbClr val="CFC6C2"/>
                </a:solidFill>
                <a:latin typeface="DM Sans"/>
                <a:ea typeface="DM Sans"/>
                <a:cs typeface="DM Sans"/>
                <a:sym typeface="DM Sans"/>
              </a:rPr>
              <a:t> conversão de quem vê a estimativa vs. quem não vê.</a:t>
            </a:r>
            <a:endParaRPr b="0" i="0" sz="1400" u="none" cap="none" strike="noStrike">
              <a:solidFill>
                <a:schemeClr val="dk1"/>
              </a:solidFill>
              <a:latin typeface="DM Sans"/>
              <a:ea typeface="DM Sans"/>
              <a:cs typeface="DM Sans"/>
              <a:sym typeface="DM Sans"/>
            </a:endParaRPr>
          </a:p>
        </p:txBody>
      </p:sp>
      <p:sp>
        <p:nvSpPr>
          <p:cNvPr id="221" name="Google Shape;221;p8"/>
          <p:cNvSpPr/>
          <p:nvPr/>
        </p:nvSpPr>
        <p:spPr>
          <a:xfrm>
            <a:off x="6508118" y="3337179"/>
            <a:ext cx="4703307" cy="52311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7A7C"/>
              </a:buClr>
              <a:buSzPts val="1400"/>
              <a:buFont typeface="DM Sans"/>
              <a:buNone/>
            </a:pPr>
            <a:r>
              <a:rPr b="1" i="0" lang="en-US" sz="1400" u="none" cap="none" strike="noStrike">
                <a:solidFill>
                  <a:srgbClr val="FF7A7C"/>
                </a:solidFill>
                <a:latin typeface="DM Sans"/>
                <a:ea typeface="DM Sans"/>
                <a:cs typeface="DM Sans"/>
                <a:sym typeface="DM Sans"/>
              </a:rPr>
              <a:t>Engajamento:</a:t>
            </a:r>
            <a:r>
              <a:rPr b="0" i="0" lang="en-US" sz="1400" u="none" cap="none" strike="noStrike">
                <a:solidFill>
                  <a:srgbClr val="CFC6C2"/>
                </a:solidFill>
                <a:latin typeface="DM Sans"/>
                <a:ea typeface="DM Sans"/>
                <a:cs typeface="DM Sans"/>
                <a:sym typeface="DM Sans"/>
              </a:rPr>
              <a:t> frequência de pedidos de quem usa o filtro ou o assistente.</a:t>
            </a:r>
            <a:endParaRPr b="0" i="0" sz="1400" u="none" cap="none" strike="noStrike">
              <a:solidFill>
                <a:schemeClr val="dk1"/>
              </a:solidFill>
              <a:latin typeface="DM Sans"/>
              <a:ea typeface="DM Sans"/>
              <a:cs typeface="DM Sans"/>
              <a:sym typeface="DM Sans"/>
            </a:endParaRPr>
          </a:p>
        </p:txBody>
      </p:sp>
      <p:sp>
        <p:nvSpPr>
          <p:cNvPr id="222" name="Google Shape;222;p8"/>
          <p:cNvSpPr/>
          <p:nvPr/>
        </p:nvSpPr>
        <p:spPr>
          <a:xfrm>
            <a:off x="6508118" y="3974523"/>
            <a:ext cx="4871100" cy="274259"/>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7A7C"/>
              </a:buClr>
              <a:buSzPts val="1400"/>
              <a:buFont typeface="DM Sans"/>
              <a:buNone/>
            </a:pPr>
            <a:r>
              <a:rPr b="1" i="0" lang="en-US" sz="1400" u="none" cap="none" strike="noStrike">
                <a:solidFill>
                  <a:srgbClr val="FF7A7C"/>
                </a:solidFill>
                <a:latin typeface="DM Sans"/>
                <a:ea typeface="DM Sans"/>
                <a:cs typeface="DM Sans"/>
                <a:sym typeface="DM Sans"/>
              </a:rPr>
              <a:t>Qualidade:</a:t>
            </a:r>
            <a:r>
              <a:rPr b="0" i="0" lang="en-US" sz="1400" u="none" cap="none" strike="noStrike">
                <a:solidFill>
                  <a:srgbClr val="CFC6C2"/>
                </a:solidFill>
                <a:latin typeface="DM Sans"/>
                <a:ea typeface="DM Sans"/>
                <a:cs typeface="DM Sans"/>
                <a:sym typeface="DM Sans"/>
              </a:rPr>
              <a:t> uso da feature e taxa de recusa do modelo.</a:t>
            </a:r>
            <a:endParaRPr b="0" i="0" sz="1400" u="none" cap="none" strike="noStrike">
              <a:solidFill>
                <a:schemeClr val="dk1"/>
              </a:solidFill>
              <a:latin typeface="DM Sans"/>
              <a:ea typeface="DM Sans"/>
              <a:cs typeface="DM Sans"/>
              <a:sym typeface="DM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6F1"/>
        </a:solidFill>
      </p:bgPr>
    </p:bg>
    <p:spTree>
      <p:nvGrpSpPr>
        <p:cNvPr id="227" name="Shape 227"/>
        <p:cNvGrpSpPr/>
        <p:nvPr/>
      </p:nvGrpSpPr>
      <p:grpSpPr>
        <a:xfrm>
          <a:off x="0" y="0"/>
          <a:ext cx="0" cy="0"/>
          <a:chOff x="0" y="0"/>
          <a:chExt cx="0" cy="0"/>
        </a:xfrm>
      </p:grpSpPr>
      <p:sp>
        <p:nvSpPr>
          <p:cNvPr id="228" name="Google Shape;228;p9"/>
          <p:cNvSpPr/>
          <p:nvPr/>
        </p:nvSpPr>
        <p:spPr>
          <a:xfrm>
            <a:off x="812782" y="812781"/>
            <a:ext cx="10883429" cy="23881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8202F"/>
              </a:buClr>
              <a:buSzPts val="1200"/>
              <a:buFont typeface="DM Sans"/>
              <a:buNone/>
            </a:pPr>
            <a:r>
              <a:rPr b="1" i="0" lang="en-US" sz="1200" u="none" cap="none" strike="noStrike">
                <a:solidFill>
                  <a:srgbClr val="C8202F"/>
                </a:solidFill>
                <a:latin typeface="DM Sans"/>
                <a:ea typeface="DM Sans"/>
                <a:cs typeface="DM Sans"/>
                <a:sym typeface="DM Sans"/>
              </a:rPr>
              <a:t>TRANSPARÊNCIA</a:t>
            </a:r>
            <a:endParaRPr b="0" i="0" sz="1200" u="none" cap="none" strike="noStrike">
              <a:solidFill>
                <a:schemeClr val="dk1"/>
              </a:solidFill>
              <a:latin typeface="DM Sans"/>
              <a:ea typeface="DM Sans"/>
              <a:cs typeface="DM Sans"/>
              <a:sym typeface="DM Sans"/>
            </a:endParaRPr>
          </a:p>
        </p:txBody>
      </p:sp>
      <p:sp>
        <p:nvSpPr>
          <p:cNvPr id="229" name="Google Shape;229;p9"/>
          <p:cNvSpPr txBox="1"/>
          <p:nvPr>
            <p:ph type="title"/>
          </p:nvPr>
        </p:nvSpPr>
        <p:spPr>
          <a:xfrm>
            <a:off x="812782" y="1127751"/>
            <a:ext cx="10883429" cy="49272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1E1A1B"/>
              </a:buClr>
              <a:buSzPts val="3200"/>
              <a:buFont typeface="Rubik"/>
              <a:buNone/>
            </a:pPr>
            <a:r>
              <a:rPr b="1" i="0" lang="en-US" sz="3200">
                <a:solidFill>
                  <a:srgbClr val="1E1A1B"/>
                </a:solidFill>
                <a:latin typeface="Rubik"/>
                <a:ea typeface="Rubik"/>
                <a:cs typeface="Rubik"/>
                <a:sym typeface="Rubik"/>
              </a:rPr>
              <a:t>Os limites que já conhecemos</a:t>
            </a:r>
            <a:endParaRPr sz="3200"/>
          </a:p>
        </p:txBody>
      </p:sp>
      <p:sp>
        <p:nvSpPr>
          <p:cNvPr id="230" name="Google Shape;230;p9"/>
          <p:cNvSpPr/>
          <p:nvPr/>
        </p:nvSpPr>
        <p:spPr>
          <a:xfrm>
            <a:off x="815957" y="1903034"/>
            <a:ext cx="3414171" cy="1279976"/>
          </a:xfrm>
          <a:prstGeom prst="roundRect">
            <a:avLst>
              <a:gd fmla="val 9674" name="adj"/>
            </a:avLst>
          </a:prstGeom>
          <a:solidFill>
            <a:srgbClr val="FFFFFF"/>
          </a:solidFill>
          <a:ln cap="flat" cmpd="sng" w="9525">
            <a:solidFill>
              <a:srgbClr val="E8DF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9"/>
          <p:cNvSpPr/>
          <p:nvPr/>
        </p:nvSpPr>
        <p:spPr>
          <a:xfrm>
            <a:off x="1047119" y="2134195"/>
            <a:ext cx="3040403" cy="269208"/>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E1A1B"/>
              </a:buClr>
              <a:buSzPts val="1600"/>
              <a:buFont typeface="Rubik"/>
              <a:buNone/>
            </a:pPr>
            <a:r>
              <a:rPr b="1" i="0" lang="en-US" sz="1600" u="none" cap="none" strike="noStrike">
                <a:solidFill>
                  <a:srgbClr val="1E1A1B"/>
                </a:solidFill>
                <a:latin typeface="Rubik"/>
                <a:ea typeface="Rubik"/>
                <a:cs typeface="Rubik"/>
                <a:sym typeface="Rubik"/>
              </a:rPr>
              <a:t>Sem gabarito</a:t>
            </a:r>
            <a:endParaRPr b="0" i="0" sz="1600" u="none" cap="none" strike="noStrike">
              <a:solidFill>
                <a:schemeClr val="dk1"/>
              </a:solidFill>
              <a:latin typeface="DM Sans"/>
              <a:ea typeface="DM Sans"/>
              <a:cs typeface="DM Sans"/>
              <a:sym typeface="DM Sans"/>
            </a:endParaRPr>
          </a:p>
        </p:txBody>
      </p:sp>
      <p:sp>
        <p:nvSpPr>
          <p:cNvPr id="232" name="Google Shape;232;p9"/>
          <p:cNvSpPr/>
          <p:nvPr/>
        </p:nvSpPr>
        <p:spPr>
          <a:xfrm>
            <a:off x="1047119" y="2454126"/>
            <a:ext cx="3040403" cy="274259"/>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F4648"/>
              </a:buClr>
              <a:buSzPts val="1400"/>
              <a:buFont typeface="DM Sans"/>
              <a:buNone/>
            </a:pPr>
            <a:r>
              <a:rPr b="0" i="0" lang="en-US" sz="1400" u="none" cap="none" strike="noStrike">
                <a:solidFill>
                  <a:srgbClr val="4F4648"/>
                </a:solidFill>
                <a:latin typeface="DM Sans"/>
                <a:ea typeface="DM Sans"/>
                <a:cs typeface="DM Sans"/>
                <a:sym typeface="DM Sans"/>
              </a:rPr>
              <a:t>Ainda não medimos o erro real.</a:t>
            </a:r>
            <a:endParaRPr b="0" i="0" sz="1400" u="none" cap="none" strike="noStrike">
              <a:solidFill>
                <a:schemeClr val="dk1"/>
              </a:solidFill>
              <a:latin typeface="DM Sans"/>
              <a:ea typeface="DM Sans"/>
              <a:cs typeface="DM Sans"/>
              <a:sym typeface="DM Sans"/>
            </a:endParaRPr>
          </a:p>
        </p:txBody>
      </p:sp>
      <p:sp>
        <p:nvSpPr>
          <p:cNvPr id="233" name="Google Shape;233;p9"/>
          <p:cNvSpPr/>
          <p:nvPr/>
        </p:nvSpPr>
        <p:spPr>
          <a:xfrm>
            <a:off x="4388824" y="1903034"/>
            <a:ext cx="3414261" cy="1279976"/>
          </a:xfrm>
          <a:prstGeom prst="roundRect">
            <a:avLst>
              <a:gd fmla="val 9674" name="adj"/>
            </a:avLst>
          </a:prstGeom>
          <a:solidFill>
            <a:srgbClr val="FFFFFF"/>
          </a:solidFill>
          <a:ln cap="flat" cmpd="sng" w="9525">
            <a:solidFill>
              <a:srgbClr val="E8DF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9"/>
          <p:cNvSpPr/>
          <p:nvPr/>
        </p:nvSpPr>
        <p:spPr>
          <a:xfrm>
            <a:off x="4619985" y="2134195"/>
            <a:ext cx="3040496" cy="269208"/>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E1A1B"/>
              </a:buClr>
              <a:buSzPts val="1600"/>
              <a:buFont typeface="Rubik"/>
              <a:buNone/>
            </a:pPr>
            <a:r>
              <a:rPr b="1" i="0" lang="en-US" sz="1600" u="none" cap="none" strike="noStrike">
                <a:solidFill>
                  <a:srgbClr val="1E1A1B"/>
                </a:solidFill>
                <a:latin typeface="Rubik"/>
                <a:ea typeface="Rubik"/>
                <a:cs typeface="Rubik"/>
                <a:sym typeface="Rubik"/>
              </a:rPr>
              <a:t>Coerência não é acerto</a:t>
            </a:r>
            <a:endParaRPr b="0" i="0" sz="1600" u="none" cap="none" strike="noStrike">
              <a:solidFill>
                <a:schemeClr val="dk1"/>
              </a:solidFill>
              <a:latin typeface="DM Sans"/>
              <a:ea typeface="DM Sans"/>
              <a:cs typeface="DM Sans"/>
              <a:sym typeface="DM Sans"/>
            </a:endParaRPr>
          </a:p>
        </p:txBody>
      </p:sp>
      <p:sp>
        <p:nvSpPr>
          <p:cNvPr id="235" name="Google Shape;235;p9"/>
          <p:cNvSpPr/>
          <p:nvPr/>
        </p:nvSpPr>
        <p:spPr>
          <a:xfrm>
            <a:off x="4619985" y="2454126"/>
            <a:ext cx="3040496" cy="52311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F4648"/>
              </a:buClr>
              <a:buSzPts val="1400"/>
              <a:buFont typeface="DM Sans"/>
              <a:buNone/>
            </a:pPr>
            <a:r>
              <a:rPr b="0" i="0" lang="en-US" sz="1400" u="none" cap="none" strike="noStrike">
                <a:solidFill>
                  <a:srgbClr val="4F4648"/>
                </a:solidFill>
                <a:latin typeface="DM Sans"/>
                <a:ea typeface="DM Sans"/>
                <a:cs typeface="DM Sans"/>
                <a:sym typeface="DM Sans"/>
              </a:rPr>
              <a:t>Modelos podem concordar no mesmo erro.</a:t>
            </a:r>
            <a:endParaRPr b="0" i="0" sz="1400" u="none" cap="none" strike="noStrike">
              <a:solidFill>
                <a:schemeClr val="dk1"/>
              </a:solidFill>
              <a:latin typeface="DM Sans"/>
              <a:ea typeface="DM Sans"/>
              <a:cs typeface="DM Sans"/>
              <a:sym typeface="DM Sans"/>
            </a:endParaRPr>
          </a:p>
        </p:txBody>
      </p:sp>
      <p:sp>
        <p:nvSpPr>
          <p:cNvPr id="236" name="Google Shape;236;p9"/>
          <p:cNvSpPr/>
          <p:nvPr/>
        </p:nvSpPr>
        <p:spPr>
          <a:xfrm>
            <a:off x="7961781" y="1903034"/>
            <a:ext cx="3414261" cy="1279976"/>
          </a:xfrm>
          <a:prstGeom prst="roundRect">
            <a:avLst>
              <a:gd fmla="val 9674" name="adj"/>
            </a:avLst>
          </a:prstGeom>
          <a:solidFill>
            <a:srgbClr val="FFFFFF"/>
          </a:solidFill>
          <a:ln cap="flat" cmpd="sng" w="9525">
            <a:solidFill>
              <a:srgbClr val="E8DF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9"/>
          <p:cNvSpPr/>
          <p:nvPr/>
        </p:nvSpPr>
        <p:spPr>
          <a:xfrm>
            <a:off x="8192943" y="2134195"/>
            <a:ext cx="3040496" cy="269208"/>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E1A1B"/>
              </a:buClr>
              <a:buSzPts val="1600"/>
              <a:buFont typeface="Rubik"/>
              <a:buNone/>
            </a:pPr>
            <a:r>
              <a:rPr b="1" i="0" lang="en-US" sz="1600" u="none" cap="none" strike="noStrike">
                <a:solidFill>
                  <a:srgbClr val="1E1A1B"/>
                </a:solidFill>
                <a:latin typeface="Rubik"/>
                <a:ea typeface="Rubik"/>
                <a:cs typeface="Rubik"/>
                <a:sym typeface="Rubik"/>
              </a:rPr>
              <a:t>Muitas chamadas</a:t>
            </a:r>
            <a:endParaRPr b="0" i="0" sz="1600" u="none" cap="none" strike="noStrike">
              <a:solidFill>
                <a:schemeClr val="dk1"/>
              </a:solidFill>
              <a:latin typeface="DM Sans"/>
              <a:ea typeface="DM Sans"/>
              <a:cs typeface="DM Sans"/>
              <a:sym typeface="DM Sans"/>
            </a:endParaRPr>
          </a:p>
        </p:txBody>
      </p:sp>
      <p:sp>
        <p:nvSpPr>
          <p:cNvPr id="238" name="Google Shape;238;p9"/>
          <p:cNvSpPr/>
          <p:nvPr/>
        </p:nvSpPr>
        <p:spPr>
          <a:xfrm>
            <a:off x="8192943" y="2454126"/>
            <a:ext cx="3040496" cy="52311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F4648"/>
              </a:buClr>
              <a:buSzPts val="1400"/>
              <a:buFont typeface="DM Sans"/>
              <a:buNone/>
            </a:pPr>
            <a:r>
              <a:rPr b="0" i="0" lang="en-US" sz="1400" u="none" cap="none" strike="noStrike">
                <a:solidFill>
                  <a:srgbClr val="4F4648"/>
                </a:solidFill>
                <a:latin typeface="DM Sans"/>
                <a:ea typeface="DM Sans"/>
                <a:cs typeface="DM Sans"/>
                <a:sym typeface="DM Sans"/>
              </a:rPr>
              <a:t>Várias consultas por item sobrecarregam o sistema.</a:t>
            </a:r>
            <a:endParaRPr b="0" i="0" sz="1400" u="none" cap="none" strike="noStrike">
              <a:solidFill>
                <a:schemeClr val="dk1"/>
              </a:solidFill>
              <a:latin typeface="DM Sans"/>
              <a:ea typeface="DM Sans"/>
              <a:cs typeface="DM Sans"/>
              <a:sym typeface="DM Sans"/>
            </a:endParaRPr>
          </a:p>
        </p:txBody>
      </p:sp>
      <p:sp>
        <p:nvSpPr>
          <p:cNvPr id="239" name="Google Shape;239;p9"/>
          <p:cNvSpPr/>
          <p:nvPr/>
        </p:nvSpPr>
        <p:spPr>
          <a:xfrm>
            <a:off x="815957" y="3341706"/>
            <a:ext cx="3414171" cy="1528835"/>
          </a:xfrm>
          <a:prstGeom prst="roundRect">
            <a:avLst>
              <a:gd fmla="val 8099" name="adj"/>
            </a:avLst>
          </a:prstGeom>
          <a:solidFill>
            <a:srgbClr val="FFFFFF"/>
          </a:solidFill>
          <a:ln cap="flat" cmpd="sng" w="9525">
            <a:solidFill>
              <a:srgbClr val="E8DF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9"/>
          <p:cNvSpPr/>
          <p:nvPr/>
        </p:nvSpPr>
        <p:spPr>
          <a:xfrm>
            <a:off x="1047119" y="3572867"/>
            <a:ext cx="3040403" cy="269208"/>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E1A1B"/>
              </a:buClr>
              <a:buSzPts val="1600"/>
              <a:buFont typeface="Rubik"/>
              <a:buNone/>
            </a:pPr>
            <a:r>
              <a:rPr b="1" i="0" lang="en-US" sz="1600" u="none" cap="none" strike="noStrike">
                <a:solidFill>
                  <a:srgbClr val="1E1A1B"/>
                </a:solidFill>
                <a:latin typeface="Rubik"/>
                <a:ea typeface="Rubik"/>
                <a:cs typeface="Rubik"/>
                <a:sym typeface="Rubik"/>
              </a:rPr>
              <a:t>Peso pela foto</a:t>
            </a:r>
            <a:endParaRPr b="0" i="0" sz="1600" u="none" cap="none" strike="noStrike">
              <a:solidFill>
                <a:schemeClr val="dk1"/>
              </a:solidFill>
              <a:latin typeface="DM Sans"/>
              <a:ea typeface="DM Sans"/>
              <a:cs typeface="DM Sans"/>
              <a:sym typeface="DM Sans"/>
            </a:endParaRPr>
          </a:p>
        </p:txBody>
      </p:sp>
      <p:sp>
        <p:nvSpPr>
          <p:cNvPr id="241" name="Google Shape;241;p9"/>
          <p:cNvSpPr/>
          <p:nvPr/>
        </p:nvSpPr>
        <p:spPr>
          <a:xfrm>
            <a:off x="1047119" y="3892798"/>
            <a:ext cx="3040403" cy="771976"/>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F4648"/>
              </a:buClr>
              <a:buSzPts val="1400"/>
              <a:buFont typeface="DM Sans"/>
              <a:buNone/>
            </a:pPr>
            <a:r>
              <a:rPr b="0" i="0" lang="en-US" sz="1400" u="none" cap="none" strike="noStrike">
                <a:solidFill>
                  <a:srgbClr val="4F4648"/>
                </a:solidFill>
                <a:latin typeface="DM Sans"/>
                <a:ea typeface="DM Sans"/>
                <a:cs typeface="DM Sans"/>
                <a:sym typeface="DM Sans"/>
              </a:rPr>
              <a:t>A IA não consegue estimar o peso corretamente, depende da descrição pra isso</a:t>
            </a:r>
            <a:endParaRPr b="0" i="0" sz="1400" u="none" cap="none" strike="noStrike">
              <a:solidFill>
                <a:schemeClr val="dk1"/>
              </a:solidFill>
              <a:latin typeface="DM Sans"/>
              <a:ea typeface="DM Sans"/>
              <a:cs typeface="DM Sans"/>
              <a:sym typeface="DM Sans"/>
            </a:endParaRPr>
          </a:p>
        </p:txBody>
      </p:sp>
      <p:sp>
        <p:nvSpPr>
          <p:cNvPr id="242" name="Google Shape;242;p9"/>
          <p:cNvSpPr/>
          <p:nvPr/>
        </p:nvSpPr>
        <p:spPr>
          <a:xfrm>
            <a:off x="4388824" y="3341706"/>
            <a:ext cx="3414261" cy="1528835"/>
          </a:xfrm>
          <a:prstGeom prst="roundRect">
            <a:avLst>
              <a:gd fmla="val 8099" name="adj"/>
            </a:avLst>
          </a:prstGeom>
          <a:solidFill>
            <a:srgbClr val="FFFFFF"/>
          </a:solidFill>
          <a:ln cap="flat" cmpd="sng" w="9525">
            <a:solidFill>
              <a:srgbClr val="E8DF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9"/>
          <p:cNvSpPr/>
          <p:nvPr/>
        </p:nvSpPr>
        <p:spPr>
          <a:xfrm>
            <a:off x="4619985" y="3572867"/>
            <a:ext cx="3040496" cy="269208"/>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E1A1B"/>
              </a:buClr>
              <a:buSzPts val="1600"/>
              <a:buFont typeface="Rubik"/>
              <a:buNone/>
            </a:pPr>
            <a:r>
              <a:rPr b="1" i="0" lang="en-US" sz="1600" u="none" cap="none" strike="noStrike">
                <a:solidFill>
                  <a:srgbClr val="1E1A1B"/>
                </a:solidFill>
                <a:latin typeface="Rubik"/>
                <a:ea typeface="Rubik"/>
                <a:cs typeface="Rubik"/>
                <a:sym typeface="Rubik"/>
              </a:rPr>
              <a:t>Fotos geradas por IA</a:t>
            </a:r>
            <a:endParaRPr b="0" i="0" sz="1600" u="none" cap="none" strike="noStrike">
              <a:solidFill>
                <a:schemeClr val="dk1"/>
              </a:solidFill>
              <a:latin typeface="DM Sans"/>
              <a:ea typeface="DM Sans"/>
              <a:cs typeface="DM Sans"/>
              <a:sym typeface="DM Sans"/>
            </a:endParaRPr>
          </a:p>
        </p:txBody>
      </p:sp>
      <p:sp>
        <p:nvSpPr>
          <p:cNvPr id="244" name="Google Shape;244;p9"/>
          <p:cNvSpPr/>
          <p:nvPr/>
        </p:nvSpPr>
        <p:spPr>
          <a:xfrm>
            <a:off x="4619985" y="3892798"/>
            <a:ext cx="3040496" cy="52311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F4648"/>
              </a:buClr>
              <a:buSzPts val="1400"/>
              <a:buFont typeface="DM Sans"/>
              <a:buNone/>
            </a:pPr>
            <a:r>
              <a:rPr b="0" i="0" lang="en-US" sz="1400" u="none" cap="none" strike="noStrike">
                <a:solidFill>
                  <a:srgbClr val="4F4648"/>
                </a:solidFill>
                <a:latin typeface="DM Sans"/>
                <a:ea typeface="DM Sans"/>
                <a:cs typeface="DM Sans"/>
                <a:sym typeface="DM Sans"/>
              </a:rPr>
              <a:t>São imprecisas para o modelo prever.</a:t>
            </a:r>
            <a:endParaRPr b="0" i="0" sz="1400" u="none" cap="none" strike="noStrike">
              <a:solidFill>
                <a:schemeClr val="dk1"/>
              </a:solidFill>
              <a:latin typeface="DM Sans"/>
              <a:ea typeface="DM Sans"/>
              <a:cs typeface="DM Sans"/>
              <a:sym typeface="DM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6F1"/>
        </a:solidFill>
      </p:bgPr>
    </p:bg>
    <p:spTree>
      <p:nvGrpSpPr>
        <p:cNvPr id="249" name="Shape 249"/>
        <p:cNvGrpSpPr/>
        <p:nvPr/>
      </p:nvGrpSpPr>
      <p:grpSpPr>
        <a:xfrm>
          <a:off x="0" y="0"/>
          <a:ext cx="0" cy="0"/>
          <a:chOff x="0" y="0"/>
          <a:chExt cx="0" cy="0"/>
        </a:xfrm>
      </p:grpSpPr>
      <p:sp>
        <p:nvSpPr>
          <p:cNvPr id="250" name="Google Shape;250;p10"/>
          <p:cNvSpPr/>
          <p:nvPr/>
        </p:nvSpPr>
        <p:spPr>
          <a:xfrm>
            <a:off x="812782" y="812781"/>
            <a:ext cx="10883429" cy="23881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8202F"/>
              </a:buClr>
              <a:buSzPts val="1200"/>
              <a:buFont typeface="DM Sans"/>
              <a:buNone/>
            </a:pPr>
            <a:r>
              <a:rPr b="1" i="0" lang="en-US" sz="1200" u="none" cap="none" strike="noStrike">
                <a:solidFill>
                  <a:srgbClr val="C8202F"/>
                </a:solidFill>
                <a:latin typeface="DM Sans"/>
                <a:ea typeface="DM Sans"/>
                <a:cs typeface="DM Sans"/>
                <a:sym typeface="DM Sans"/>
              </a:rPr>
              <a:t>PRÓXIMOS PASSOS</a:t>
            </a:r>
            <a:endParaRPr b="0" i="0" sz="1200" u="none" cap="none" strike="noStrike">
              <a:solidFill>
                <a:schemeClr val="dk1"/>
              </a:solidFill>
              <a:latin typeface="DM Sans"/>
              <a:ea typeface="DM Sans"/>
              <a:cs typeface="DM Sans"/>
              <a:sym typeface="DM Sans"/>
            </a:endParaRPr>
          </a:p>
        </p:txBody>
      </p:sp>
      <p:sp>
        <p:nvSpPr>
          <p:cNvPr id="251" name="Google Shape;251;p10"/>
          <p:cNvSpPr txBox="1"/>
          <p:nvPr>
            <p:ph type="title"/>
          </p:nvPr>
        </p:nvSpPr>
        <p:spPr>
          <a:xfrm>
            <a:off x="812782" y="1127751"/>
            <a:ext cx="10883429" cy="49272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1E1A1B"/>
              </a:buClr>
              <a:buSzPts val="3200"/>
              <a:buFont typeface="Rubik"/>
              <a:buNone/>
            </a:pPr>
            <a:r>
              <a:rPr b="1" i="0" lang="en-US" sz="3200">
                <a:solidFill>
                  <a:srgbClr val="1E1A1B"/>
                </a:solidFill>
                <a:latin typeface="Rubik"/>
                <a:ea typeface="Rubik"/>
                <a:cs typeface="Rubik"/>
                <a:sym typeface="Rubik"/>
              </a:rPr>
              <a:t>O que vem depois do piloto</a:t>
            </a:r>
            <a:endParaRPr sz="3200"/>
          </a:p>
        </p:txBody>
      </p:sp>
      <p:sp>
        <p:nvSpPr>
          <p:cNvPr id="252" name="Google Shape;252;p10"/>
          <p:cNvSpPr/>
          <p:nvPr/>
        </p:nvSpPr>
        <p:spPr>
          <a:xfrm>
            <a:off x="815957" y="1903034"/>
            <a:ext cx="2245825" cy="4139009"/>
          </a:xfrm>
          <a:prstGeom prst="roundRect">
            <a:avLst>
              <a:gd fmla="val 6645" name="adj"/>
            </a:avLst>
          </a:prstGeom>
          <a:solidFill>
            <a:srgbClr val="FFFFFF"/>
          </a:solidFill>
          <a:ln cap="flat" cmpd="sng" w="9525">
            <a:solidFill>
              <a:srgbClr val="E8DF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Database" id="253" name="Google Shape;253;p10"/>
          <p:cNvPicPr preferRelativeResize="0"/>
          <p:nvPr/>
        </p:nvPicPr>
        <p:blipFill rotWithShape="1">
          <a:blip r:embed="rId3">
            <a:alphaModFix/>
          </a:blip>
          <a:srcRect b="0" l="0" r="0" t="0"/>
          <a:stretch/>
        </p:blipFill>
        <p:spPr>
          <a:xfrm>
            <a:off x="1021683" y="2108758"/>
            <a:ext cx="355564" cy="355564"/>
          </a:xfrm>
          <a:prstGeom prst="rect">
            <a:avLst/>
          </a:prstGeom>
          <a:noFill/>
          <a:ln>
            <a:noFill/>
          </a:ln>
        </p:spPr>
      </p:pic>
      <p:sp>
        <p:nvSpPr>
          <p:cNvPr id="254" name="Google Shape;254;p10"/>
          <p:cNvSpPr/>
          <p:nvPr/>
        </p:nvSpPr>
        <p:spPr>
          <a:xfrm>
            <a:off x="1021683" y="2591321"/>
            <a:ext cx="1889406" cy="543502"/>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E1A1B"/>
              </a:buClr>
              <a:buSzPts val="1700"/>
              <a:buFont typeface="Rubik"/>
              <a:buNone/>
            </a:pPr>
            <a:r>
              <a:rPr b="1" i="0" lang="en-US" sz="1700" u="none" cap="none" strike="noStrike">
                <a:solidFill>
                  <a:srgbClr val="1E1A1B"/>
                </a:solidFill>
                <a:latin typeface="Rubik"/>
                <a:ea typeface="Rubik"/>
                <a:cs typeface="Rubik"/>
                <a:sym typeface="Rubik"/>
              </a:rPr>
              <a:t>Estimativas em banco de dados</a:t>
            </a:r>
            <a:endParaRPr b="0" i="0" sz="1700" u="none" cap="none" strike="noStrike">
              <a:solidFill>
                <a:schemeClr val="dk1"/>
              </a:solidFill>
              <a:latin typeface="DM Sans"/>
              <a:ea typeface="DM Sans"/>
              <a:cs typeface="DM Sans"/>
              <a:sym typeface="DM Sans"/>
            </a:endParaRPr>
          </a:p>
        </p:txBody>
      </p:sp>
      <p:sp>
        <p:nvSpPr>
          <p:cNvPr id="255" name="Google Shape;255;p10"/>
          <p:cNvSpPr/>
          <p:nvPr/>
        </p:nvSpPr>
        <p:spPr>
          <a:xfrm>
            <a:off x="1021683" y="3236423"/>
            <a:ext cx="1889406" cy="141193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F4648"/>
              </a:buClr>
              <a:buSzPts val="1300"/>
              <a:buFont typeface="DM Sans"/>
              <a:buNone/>
            </a:pPr>
            <a:r>
              <a:rPr b="0" i="0" lang="en-US" sz="1300" u="none" cap="none" strike="noStrike">
                <a:solidFill>
                  <a:srgbClr val="4F4648"/>
                </a:solidFill>
                <a:latin typeface="DM Sans"/>
                <a:ea typeface="DM Sans"/>
                <a:cs typeface="DM Sans"/>
                <a:sym typeface="DM Sans"/>
              </a:rPr>
              <a:t>Cada previsão fica salva. Produtos já estimados são consultados direto, sem rodar o pipeline de novo.</a:t>
            </a:r>
            <a:endParaRPr b="0" i="0" sz="1300" u="none" cap="none" strike="noStrike">
              <a:solidFill>
                <a:schemeClr val="dk1"/>
              </a:solidFill>
              <a:latin typeface="DM Sans"/>
              <a:ea typeface="DM Sans"/>
              <a:cs typeface="DM Sans"/>
              <a:sym typeface="DM Sans"/>
            </a:endParaRPr>
          </a:p>
        </p:txBody>
      </p:sp>
      <p:sp>
        <p:nvSpPr>
          <p:cNvPr id="256" name="Google Shape;256;p10"/>
          <p:cNvSpPr/>
          <p:nvPr/>
        </p:nvSpPr>
        <p:spPr>
          <a:xfrm>
            <a:off x="1021683" y="4749961"/>
            <a:ext cx="1889406" cy="45222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E1621"/>
              </a:buClr>
              <a:buSzPts val="1200"/>
              <a:buFont typeface="DM Sans"/>
              <a:buNone/>
            </a:pPr>
            <a:r>
              <a:rPr b="0" i="0" lang="en-US" sz="1200" u="none" cap="none" strike="noStrike">
                <a:solidFill>
                  <a:srgbClr val="8E1621"/>
                </a:solidFill>
                <a:latin typeface="DM Sans"/>
                <a:ea typeface="DM Sans"/>
                <a:cs typeface="DM Sans"/>
                <a:sym typeface="DM Sans"/>
              </a:rPr>
              <a:t>Menos computação e menos espera.</a:t>
            </a:r>
            <a:endParaRPr b="0" i="0" sz="1200" u="none" cap="none" strike="noStrike">
              <a:solidFill>
                <a:schemeClr val="dk1"/>
              </a:solidFill>
              <a:latin typeface="DM Sans"/>
              <a:ea typeface="DM Sans"/>
              <a:cs typeface="DM Sans"/>
              <a:sym typeface="DM Sans"/>
            </a:endParaRPr>
          </a:p>
        </p:txBody>
      </p:sp>
      <p:sp>
        <p:nvSpPr>
          <p:cNvPr id="257" name="Google Shape;257;p10"/>
          <p:cNvSpPr/>
          <p:nvPr/>
        </p:nvSpPr>
        <p:spPr>
          <a:xfrm>
            <a:off x="3220478" y="1903034"/>
            <a:ext cx="2245916" cy="4139009"/>
          </a:xfrm>
          <a:prstGeom prst="roundRect">
            <a:avLst>
              <a:gd fmla="val 6644" name="adj"/>
            </a:avLst>
          </a:prstGeom>
          <a:solidFill>
            <a:srgbClr val="FFFFFF"/>
          </a:solidFill>
          <a:ln cap="flat" cmpd="sng" w="9525">
            <a:solidFill>
              <a:srgbClr val="E8DF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arch" id="258" name="Google Shape;258;p10"/>
          <p:cNvPicPr preferRelativeResize="0"/>
          <p:nvPr/>
        </p:nvPicPr>
        <p:blipFill rotWithShape="1">
          <a:blip r:embed="rId4">
            <a:alphaModFix/>
          </a:blip>
          <a:srcRect b="0" l="0" r="0" t="0"/>
          <a:stretch/>
        </p:blipFill>
        <p:spPr>
          <a:xfrm>
            <a:off x="3426204" y="2108758"/>
            <a:ext cx="355564" cy="355564"/>
          </a:xfrm>
          <a:prstGeom prst="rect">
            <a:avLst/>
          </a:prstGeom>
          <a:noFill/>
          <a:ln>
            <a:noFill/>
          </a:ln>
        </p:spPr>
      </p:pic>
      <p:sp>
        <p:nvSpPr>
          <p:cNvPr id="259" name="Google Shape;259;p10"/>
          <p:cNvSpPr/>
          <p:nvPr/>
        </p:nvSpPr>
        <p:spPr>
          <a:xfrm>
            <a:off x="3426204" y="2591321"/>
            <a:ext cx="1889498" cy="802553"/>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E1A1B"/>
              </a:buClr>
              <a:buSzPts val="1700"/>
              <a:buFont typeface="Rubik"/>
              <a:buNone/>
            </a:pPr>
            <a:r>
              <a:rPr b="1" i="0" lang="en-US" sz="1700" u="none" cap="none" strike="noStrike">
                <a:solidFill>
                  <a:srgbClr val="1E1A1B"/>
                </a:solidFill>
                <a:latin typeface="Rubik"/>
                <a:ea typeface="Rubik"/>
                <a:cs typeface="Rubik"/>
                <a:sym typeface="Rubik"/>
              </a:rPr>
              <a:t>OCR em produtos similares</a:t>
            </a:r>
            <a:endParaRPr b="0" i="0" sz="1700" u="none" cap="none" strike="noStrike">
              <a:solidFill>
                <a:schemeClr val="dk1"/>
              </a:solidFill>
              <a:latin typeface="DM Sans"/>
              <a:ea typeface="DM Sans"/>
              <a:cs typeface="DM Sans"/>
              <a:sym typeface="DM Sans"/>
            </a:endParaRPr>
          </a:p>
        </p:txBody>
      </p:sp>
      <p:sp>
        <p:nvSpPr>
          <p:cNvPr id="260" name="Google Shape;260;p10"/>
          <p:cNvSpPr/>
          <p:nvPr/>
        </p:nvSpPr>
        <p:spPr>
          <a:xfrm>
            <a:off x="3426204" y="3495477"/>
            <a:ext cx="1889498" cy="949758"/>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F4648"/>
              </a:buClr>
              <a:buSzPts val="1300"/>
              <a:buFont typeface="DM Sans"/>
              <a:buNone/>
            </a:pPr>
            <a:r>
              <a:rPr b="0" i="0" lang="en-US" sz="1300" u="none" cap="none" strike="noStrike">
                <a:solidFill>
                  <a:srgbClr val="4F4648"/>
                </a:solidFill>
                <a:latin typeface="DM Sans"/>
                <a:ea typeface="DM Sans"/>
                <a:cs typeface="DM Sans"/>
                <a:sym typeface="DM Sans"/>
              </a:rPr>
              <a:t>Usar OCR para identificar os valores nutricionais de produtos similares.</a:t>
            </a:r>
            <a:endParaRPr b="0" i="0" sz="1300" u="none" cap="none" strike="noStrike">
              <a:solidFill>
                <a:schemeClr val="dk1"/>
              </a:solidFill>
              <a:latin typeface="DM Sans"/>
              <a:ea typeface="DM Sans"/>
              <a:cs typeface="DM Sans"/>
              <a:sym typeface="DM Sans"/>
            </a:endParaRPr>
          </a:p>
        </p:txBody>
      </p:sp>
      <p:sp>
        <p:nvSpPr>
          <p:cNvPr id="261" name="Google Shape;261;p10"/>
          <p:cNvSpPr/>
          <p:nvPr/>
        </p:nvSpPr>
        <p:spPr>
          <a:xfrm>
            <a:off x="5625090" y="1903034"/>
            <a:ext cx="2245825" cy="4139009"/>
          </a:xfrm>
          <a:prstGeom prst="roundRect">
            <a:avLst>
              <a:gd fmla="val 6645" name="adj"/>
            </a:avLst>
          </a:prstGeom>
          <a:solidFill>
            <a:srgbClr val="FFFFFF"/>
          </a:solidFill>
          <a:ln cap="flat" cmpd="sng" w="9525">
            <a:solidFill>
              <a:srgbClr val="E8DF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tar" id="262" name="Google Shape;262;p10"/>
          <p:cNvPicPr preferRelativeResize="0"/>
          <p:nvPr/>
        </p:nvPicPr>
        <p:blipFill rotWithShape="1">
          <a:blip r:embed="rId5">
            <a:alphaModFix/>
          </a:blip>
          <a:srcRect b="0" l="0" r="0" t="0"/>
          <a:stretch/>
        </p:blipFill>
        <p:spPr>
          <a:xfrm>
            <a:off x="5830815" y="2108758"/>
            <a:ext cx="355564" cy="355564"/>
          </a:xfrm>
          <a:prstGeom prst="rect">
            <a:avLst/>
          </a:prstGeom>
          <a:noFill/>
          <a:ln>
            <a:noFill/>
          </a:ln>
        </p:spPr>
      </p:pic>
      <p:sp>
        <p:nvSpPr>
          <p:cNvPr id="263" name="Google Shape;263;p10"/>
          <p:cNvSpPr/>
          <p:nvPr/>
        </p:nvSpPr>
        <p:spPr>
          <a:xfrm>
            <a:off x="5830815" y="2591321"/>
            <a:ext cx="1889406" cy="543502"/>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E1A1B"/>
              </a:buClr>
              <a:buSzPts val="1700"/>
              <a:buFont typeface="Rubik"/>
              <a:buNone/>
            </a:pPr>
            <a:r>
              <a:rPr b="1" i="0" lang="en-US" sz="1700" u="none" cap="none" strike="noStrike">
                <a:solidFill>
                  <a:srgbClr val="1E1A1B"/>
                </a:solidFill>
                <a:latin typeface="Rubik"/>
                <a:ea typeface="Rubik"/>
                <a:cs typeface="Rubik"/>
                <a:sym typeface="Rubik"/>
              </a:rPr>
              <a:t>Avaliação do pedido por voz</a:t>
            </a:r>
            <a:endParaRPr b="0" i="0" sz="1700" u="none" cap="none" strike="noStrike">
              <a:solidFill>
                <a:schemeClr val="dk1"/>
              </a:solidFill>
              <a:latin typeface="DM Sans"/>
              <a:ea typeface="DM Sans"/>
              <a:cs typeface="DM Sans"/>
              <a:sym typeface="DM Sans"/>
            </a:endParaRPr>
          </a:p>
        </p:txBody>
      </p:sp>
      <p:sp>
        <p:nvSpPr>
          <p:cNvPr id="264" name="Google Shape;264;p10"/>
          <p:cNvSpPr/>
          <p:nvPr/>
        </p:nvSpPr>
        <p:spPr>
          <a:xfrm>
            <a:off x="5830815" y="3236423"/>
            <a:ext cx="1889406" cy="949758"/>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F4648"/>
              </a:buClr>
              <a:buSzPts val="1300"/>
              <a:buFont typeface="DM Sans"/>
              <a:buNone/>
            </a:pPr>
            <a:r>
              <a:rPr b="0" i="0" lang="en-US" sz="1300" u="none" cap="none" strike="noStrike">
                <a:solidFill>
                  <a:srgbClr val="4F4648"/>
                </a:solidFill>
                <a:latin typeface="DM Sans"/>
                <a:ea typeface="DM Sans"/>
                <a:cs typeface="DM Sans"/>
                <a:sym typeface="DM Sans"/>
              </a:rPr>
              <a:t>Depois do pedido, o usuário poderá avaliá-lo respondendo por voz.</a:t>
            </a:r>
            <a:endParaRPr b="0" i="0" sz="1300" u="none" cap="none" strike="noStrike">
              <a:solidFill>
                <a:schemeClr val="dk1"/>
              </a:solidFill>
              <a:latin typeface="DM Sans"/>
              <a:ea typeface="DM Sans"/>
              <a:cs typeface="DM Sans"/>
              <a:sym typeface="DM Sans"/>
            </a:endParaRPr>
          </a:p>
        </p:txBody>
      </p:sp>
      <p:sp>
        <p:nvSpPr>
          <p:cNvPr id="265" name="Google Shape;265;p10"/>
          <p:cNvSpPr/>
          <p:nvPr/>
        </p:nvSpPr>
        <p:spPr>
          <a:xfrm>
            <a:off x="8029611" y="1903034"/>
            <a:ext cx="3346432" cy="4139009"/>
          </a:xfrm>
          <a:prstGeom prst="roundRect">
            <a:avLst>
              <a:gd fmla="val 4459" name="adj"/>
            </a:avLst>
          </a:prstGeom>
          <a:solidFill>
            <a:srgbClr val="FFFFFF"/>
          </a:solidFill>
          <a:ln cap="flat" cmpd="sng" w="9525">
            <a:solidFill>
              <a:srgbClr val="E8DF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ttings" id="266" name="Google Shape;266;p10"/>
          <p:cNvPicPr preferRelativeResize="0"/>
          <p:nvPr/>
        </p:nvPicPr>
        <p:blipFill rotWithShape="1">
          <a:blip r:embed="rId6">
            <a:alphaModFix/>
          </a:blip>
          <a:srcRect b="0" l="0" r="0" t="0"/>
          <a:stretch/>
        </p:blipFill>
        <p:spPr>
          <a:xfrm>
            <a:off x="8235336" y="2108758"/>
            <a:ext cx="355564" cy="355564"/>
          </a:xfrm>
          <a:prstGeom prst="rect">
            <a:avLst/>
          </a:prstGeom>
          <a:noFill/>
          <a:ln>
            <a:noFill/>
          </a:ln>
        </p:spPr>
      </p:pic>
      <p:sp>
        <p:nvSpPr>
          <p:cNvPr id="267" name="Google Shape;267;p10"/>
          <p:cNvSpPr/>
          <p:nvPr/>
        </p:nvSpPr>
        <p:spPr>
          <a:xfrm>
            <a:off x="8235336" y="2591321"/>
            <a:ext cx="3023030" cy="284451"/>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E1A1B"/>
              </a:buClr>
              <a:buSzPts val="1700"/>
              <a:buFont typeface="Rubik"/>
              <a:buNone/>
            </a:pPr>
            <a:r>
              <a:rPr b="1" i="0" lang="en-US" sz="1700" u="none" cap="none" strike="noStrike">
                <a:solidFill>
                  <a:srgbClr val="1E1A1B"/>
                </a:solidFill>
                <a:latin typeface="Rubik"/>
                <a:ea typeface="Rubik"/>
                <a:cs typeface="Rubik"/>
                <a:sym typeface="Rubik"/>
              </a:rPr>
              <a:t>Opção para restaurantes</a:t>
            </a:r>
            <a:endParaRPr b="0" i="0" sz="1700" u="none" cap="none" strike="noStrike">
              <a:solidFill>
                <a:schemeClr val="dk1"/>
              </a:solidFill>
              <a:latin typeface="DM Sans"/>
              <a:ea typeface="DM Sans"/>
              <a:cs typeface="DM Sans"/>
              <a:sym typeface="DM Sans"/>
            </a:endParaRPr>
          </a:p>
        </p:txBody>
      </p:sp>
      <p:sp>
        <p:nvSpPr>
          <p:cNvPr id="268" name="Google Shape;268;p10"/>
          <p:cNvSpPr/>
          <p:nvPr/>
        </p:nvSpPr>
        <p:spPr>
          <a:xfrm>
            <a:off x="8235336" y="2977375"/>
            <a:ext cx="3023030" cy="2105205"/>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F4648"/>
              </a:buClr>
              <a:buSzPts val="1300"/>
              <a:buFont typeface="DM Sans"/>
              <a:buNone/>
            </a:pPr>
            <a:r>
              <a:rPr b="0" i="0" lang="en-US" sz="1300" u="none" cap="none" strike="noStrike">
                <a:solidFill>
                  <a:srgbClr val="4F4648"/>
                </a:solidFill>
                <a:latin typeface="DM Sans"/>
                <a:ea typeface="DM Sans"/>
                <a:cs typeface="DM Sans"/>
                <a:sym typeface="DM Sans"/>
              </a:rPr>
              <a:t>O restaurante poderá recusar o serviço de estimativa nutricional nos seus pratos. E pode receber previamente o valor que será exibido, em conjunto com sua explicação do cálculo. O restaurante também pode colocar os valores manualmente e eles serão revisados pelo classificador.</a:t>
            </a:r>
            <a:endParaRPr b="0" i="0" sz="1300" u="none" cap="none" strike="noStrike">
              <a:solidFill>
                <a:schemeClr val="dk1"/>
              </a:solidFill>
              <a:latin typeface="DM Sans"/>
              <a:ea typeface="DM Sans"/>
              <a:cs typeface="DM Sans"/>
              <a:sym typeface="DM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A1B"/>
        </a:solidFill>
      </p:bgPr>
    </p:bg>
    <p:spTree>
      <p:nvGrpSpPr>
        <p:cNvPr id="273" name="Shape 273"/>
        <p:cNvGrpSpPr/>
        <p:nvPr/>
      </p:nvGrpSpPr>
      <p:grpSpPr>
        <a:xfrm>
          <a:off x="0" y="0"/>
          <a:ext cx="0" cy="0"/>
          <a:chOff x="0" y="0"/>
          <a:chExt cx="0" cy="0"/>
        </a:xfrm>
      </p:grpSpPr>
      <p:sp>
        <p:nvSpPr>
          <p:cNvPr id="274" name="Google Shape;274;p11"/>
          <p:cNvSpPr/>
          <p:nvPr/>
        </p:nvSpPr>
        <p:spPr>
          <a:xfrm>
            <a:off x="0" y="0"/>
            <a:ext cx="152346" cy="6858000"/>
          </a:xfrm>
          <a:prstGeom prst="rect">
            <a:avLst/>
          </a:prstGeom>
          <a:solidFill>
            <a:srgbClr val="E538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1"/>
          <p:cNvSpPr/>
          <p:nvPr/>
        </p:nvSpPr>
        <p:spPr>
          <a:xfrm>
            <a:off x="812782" y="812781"/>
            <a:ext cx="10883429" cy="23881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7A7C"/>
              </a:buClr>
              <a:buSzPts val="1200"/>
              <a:buFont typeface="DM Sans"/>
              <a:buNone/>
            </a:pPr>
            <a:r>
              <a:rPr b="1" i="0" lang="en-US" sz="1200" u="none" cap="none" strike="noStrike">
                <a:solidFill>
                  <a:srgbClr val="FF7A7C"/>
                </a:solidFill>
                <a:latin typeface="DM Sans"/>
                <a:ea typeface="DM Sans"/>
                <a:cs typeface="DM Sans"/>
                <a:sym typeface="DM Sans"/>
              </a:rPr>
              <a:t>EM RESUMO</a:t>
            </a:r>
            <a:endParaRPr b="0" i="0" sz="1200" u="none" cap="none" strike="noStrike">
              <a:solidFill>
                <a:schemeClr val="dk1"/>
              </a:solidFill>
              <a:latin typeface="DM Sans"/>
              <a:ea typeface="DM Sans"/>
              <a:cs typeface="DM Sans"/>
              <a:sym typeface="DM Sans"/>
            </a:endParaRPr>
          </a:p>
        </p:txBody>
      </p:sp>
      <p:cxnSp>
        <p:nvCxnSpPr>
          <p:cNvPr id="276" name="Google Shape;276;p11"/>
          <p:cNvCxnSpPr/>
          <p:nvPr/>
        </p:nvCxnSpPr>
        <p:spPr>
          <a:xfrm>
            <a:off x="812782" y="2622600"/>
            <a:ext cx="3285043" cy="0"/>
          </a:xfrm>
          <a:prstGeom prst="straightConnector1">
            <a:avLst/>
          </a:prstGeom>
          <a:noFill/>
          <a:ln cap="flat" cmpd="sng" w="25400">
            <a:solidFill>
              <a:srgbClr val="E5383B"/>
            </a:solidFill>
            <a:prstDash val="solid"/>
            <a:round/>
            <a:headEnd len="sm" w="sm" type="none"/>
            <a:tailEnd len="sm" w="sm" type="none"/>
          </a:ln>
        </p:spPr>
      </p:cxnSp>
      <p:sp>
        <p:nvSpPr>
          <p:cNvPr id="277" name="Google Shape;277;p11"/>
          <p:cNvSpPr/>
          <p:nvPr/>
        </p:nvSpPr>
        <p:spPr>
          <a:xfrm>
            <a:off x="812782" y="2810774"/>
            <a:ext cx="3383594" cy="330182"/>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AF6F1"/>
              </a:buClr>
              <a:buSzPts val="2000"/>
              <a:buFont typeface="Rubik"/>
              <a:buNone/>
            </a:pPr>
            <a:r>
              <a:rPr b="1" i="0" lang="en-US" sz="2000" u="none" cap="none" strike="noStrike">
                <a:solidFill>
                  <a:srgbClr val="FAF6F1"/>
                </a:solidFill>
                <a:latin typeface="Rubik"/>
                <a:ea typeface="Rubik"/>
                <a:cs typeface="Rubik"/>
                <a:sym typeface="Rubik"/>
              </a:rPr>
              <a:t>Lacuna</a:t>
            </a:r>
            <a:endParaRPr b="0" i="0" sz="2000" u="none" cap="none" strike="noStrike">
              <a:solidFill>
                <a:schemeClr val="dk1"/>
              </a:solidFill>
              <a:latin typeface="DM Sans"/>
              <a:ea typeface="DM Sans"/>
              <a:cs typeface="DM Sans"/>
              <a:sym typeface="DM Sans"/>
            </a:endParaRPr>
          </a:p>
        </p:txBody>
      </p:sp>
      <p:sp>
        <p:nvSpPr>
          <p:cNvPr id="278" name="Google Shape;278;p11"/>
          <p:cNvSpPr/>
          <p:nvPr/>
        </p:nvSpPr>
        <p:spPr>
          <a:xfrm>
            <a:off x="812782" y="3217118"/>
            <a:ext cx="3383594" cy="52311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FC6C2"/>
              </a:buClr>
              <a:buSzPts val="1400"/>
              <a:buFont typeface="DM Sans"/>
              <a:buNone/>
            </a:pPr>
            <a:r>
              <a:rPr b="0" i="0" lang="en-US" sz="1400" u="none" cap="none" strike="noStrike">
                <a:solidFill>
                  <a:srgbClr val="CFC6C2"/>
                </a:solidFill>
                <a:latin typeface="DM Sans"/>
                <a:ea typeface="DM Sans"/>
                <a:cs typeface="DM Sans"/>
                <a:sym typeface="DM Sans"/>
              </a:rPr>
              <a:t>Um público crescente que ainda não tem nada pensado para ele no iFood.</a:t>
            </a:r>
            <a:endParaRPr b="0" i="0" sz="1400" u="none" cap="none" strike="noStrike">
              <a:solidFill>
                <a:schemeClr val="dk1"/>
              </a:solidFill>
              <a:latin typeface="DM Sans"/>
              <a:ea typeface="DM Sans"/>
              <a:cs typeface="DM Sans"/>
              <a:sym typeface="DM Sans"/>
            </a:endParaRPr>
          </a:p>
        </p:txBody>
      </p:sp>
      <p:cxnSp>
        <p:nvCxnSpPr>
          <p:cNvPr id="279" name="Google Shape;279;p11"/>
          <p:cNvCxnSpPr/>
          <p:nvPr/>
        </p:nvCxnSpPr>
        <p:spPr>
          <a:xfrm>
            <a:off x="4453388" y="2622600"/>
            <a:ext cx="3285133" cy="0"/>
          </a:xfrm>
          <a:prstGeom prst="straightConnector1">
            <a:avLst/>
          </a:prstGeom>
          <a:noFill/>
          <a:ln cap="flat" cmpd="sng" w="25400">
            <a:solidFill>
              <a:srgbClr val="E5383B"/>
            </a:solidFill>
            <a:prstDash val="solid"/>
            <a:round/>
            <a:headEnd len="sm" w="sm" type="none"/>
            <a:tailEnd len="sm" w="sm" type="none"/>
          </a:ln>
        </p:spPr>
      </p:cxnSp>
      <p:sp>
        <p:nvSpPr>
          <p:cNvPr id="280" name="Google Shape;280;p11"/>
          <p:cNvSpPr/>
          <p:nvPr/>
        </p:nvSpPr>
        <p:spPr>
          <a:xfrm>
            <a:off x="4453388" y="2810774"/>
            <a:ext cx="3383687" cy="330182"/>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AF6F1"/>
              </a:buClr>
              <a:buSzPts val="2000"/>
              <a:buFont typeface="Rubik"/>
              <a:buNone/>
            </a:pPr>
            <a:r>
              <a:rPr b="1" i="0" lang="en-US" sz="2000" u="none" cap="none" strike="noStrike">
                <a:solidFill>
                  <a:srgbClr val="FAF6F1"/>
                </a:solidFill>
                <a:latin typeface="Rubik"/>
                <a:ea typeface="Rubik"/>
                <a:cs typeface="Rubik"/>
                <a:sym typeface="Rubik"/>
              </a:rPr>
              <a:t>Proposta</a:t>
            </a:r>
            <a:endParaRPr b="0" i="0" sz="2000" u="none" cap="none" strike="noStrike">
              <a:solidFill>
                <a:schemeClr val="dk1"/>
              </a:solidFill>
              <a:latin typeface="DM Sans"/>
              <a:ea typeface="DM Sans"/>
              <a:cs typeface="DM Sans"/>
              <a:sym typeface="DM Sans"/>
            </a:endParaRPr>
          </a:p>
        </p:txBody>
      </p:sp>
      <p:sp>
        <p:nvSpPr>
          <p:cNvPr id="281" name="Google Shape;281;p11"/>
          <p:cNvSpPr/>
          <p:nvPr/>
        </p:nvSpPr>
        <p:spPr>
          <a:xfrm>
            <a:off x="4453388" y="3217118"/>
            <a:ext cx="3383687" cy="52311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FC6C2"/>
              </a:buClr>
              <a:buSzPts val="1400"/>
              <a:buFont typeface="DM Sans"/>
              <a:buNone/>
            </a:pPr>
            <a:r>
              <a:rPr b="0" i="0" lang="en-US" sz="1400" u="none" cap="none" strike="noStrike">
                <a:solidFill>
                  <a:srgbClr val="CFC6C2"/>
                </a:solidFill>
                <a:latin typeface="DM Sans"/>
                <a:ea typeface="DM Sans"/>
                <a:cs typeface="DM Sans"/>
                <a:sym typeface="DM Sans"/>
              </a:rPr>
              <a:t>Estimativa nutricional explicada + assistente que ajuda a pedir e filtrar.</a:t>
            </a:r>
            <a:endParaRPr b="0" i="0" sz="1400" u="none" cap="none" strike="noStrike">
              <a:solidFill>
                <a:schemeClr val="dk1"/>
              </a:solidFill>
              <a:latin typeface="DM Sans"/>
              <a:ea typeface="DM Sans"/>
              <a:cs typeface="DM Sans"/>
              <a:sym typeface="DM Sans"/>
            </a:endParaRPr>
          </a:p>
        </p:txBody>
      </p:sp>
      <p:cxnSp>
        <p:nvCxnSpPr>
          <p:cNvPr id="282" name="Google Shape;282;p11"/>
          <p:cNvCxnSpPr/>
          <p:nvPr/>
        </p:nvCxnSpPr>
        <p:spPr>
          <a:xfrm>
            <a:off x="8094085" y="2622600"/>
            <a:ext cx="3285133" cy="0"/>
          </a:xfrm>
          <a:prstGeom prst="straightConnector1">
            <a:avLst/>
          </a:prstGeom>
          <a:noFill/>
          <a:ln cap="flat" cmpd="sng" w="25400">
            <a:solidFill>
              <a:srgbClr val="E5383B"/>
            </a:solidFill>
            <a:prstDash val="solid"/>
            <a:round/>
            <a:headEnd len="sm" w="sm" type="none"/>
            <a:tailEnd len="sm" w="sm" type="none"/>
          </a:ln>
        </p:spPr>
      </p:cxnSp>
      <p:sp>
        <p:nvSpPr>
          <p:cNvPr id="283" name="Google Shape;283;p11"/>
          <p:cNvSpPr/>
          <p:nvPr/>
        </p:nvSpPr>
        <p:spPr>
          <a:xfrm>
            <a:off x="8094085" y="2810774"/>
            <a:ext cx="3383687" cy="330182"/>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AF6F1"/>
              </a:buClr>
              <a:buSzPts val="2000"/>
              <a:buFont typeface="Rubik"/>
              <a:buNone/>
            </a:pPr>
            <a:r>
              <a:rPr b="1" i="0" lang="en-US" sz="2000" u="none" cap="none" strike="noStrike">
                <a:solidFill>
                  <a:srgbClr val="FAF6F1"/>
                </a:solidFill>
                <a:latin typeface="Rubik"/>
                <a:ea typeface="Rubik"/>
                <a:cs typeface="Rubik"/>
                <a:sym typeface="Rubik"/>
              </a:rPr>
              <a:t>Transparência</a:t>
            </a:r>
            <a:endParaRPr b="0" i="0" sz="2000" u="none" cap="none" strike="noStrike">
              <a:solidFill>
                <a:schemeClr val="dk1"/>
              </a:solidFill>
              <a:latin typeface="DM Sans"/>
              <a:ea typeface="DM Sans"/>
              <a:cs typeface="DM Sans"/>
              <a:sym typeface="DM Sans"/>
            </a:endParaRPr>
          </a:p>
        </p:txBody>
      </p:sp>
      <p:sp>
        <p:nvSpPr>
          <p:cNvPr id="284" name="Google Shape;284;p11"/>
          <p:cNvSpPr/>
          <p:nvPr/>
        </p:nvSpPr>
        <p:spPr>
          <a:xfrm>
            <a:off x="8094085" y="3217118"/>
            <a:ext cx="3383687" cy="52311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FC6C2"/>
              </a:buClr>
              <a:buSzPts val="1400"/>
              <a:buFont typeface="DM Sans"/>
              <a:buNone/>
            </a:pPr>
            <a:r>
              <a:rPr b="0" i="0" lang="en-US" sz="1400" u="none" cap="none" strike="noStrike">
                <a:solidFill>
                  <a:srgbClr val="CFC6C2"/>
                </a:solidFill>
                <a:latin typeface="DM Sans"/>
                <a:ea typeface="DM Sans"/>
                <a:cs typeface="DM Sans"/>
                <a:sym typeface="DM Sans"/>
              </a:rPr>
              <a:t>Faixas e confiança que se explicam, com os limites declarados.</a:t>
            </a:r>
            <a:endParaRPr b="0" i="0" sz="1400" u="none" cap="none" strike="noStrike">
              <a:solidFill>
                <a:schemeClr val="dk1"/>
              </a:solidFill>
              <a:latin typeface="DM Sans"/>
              <a:ea typeface="DM Sans"/>
              <a:cs typeface="DM Sans"/>
              <a:sym typeface="DM Sans"/>
            </a:endParaRPr>
          </a:p>
        </p:txBody>
      </p:sp>
      <p:sp>
        <p:nvSpPr>
          <p:cNvPr id="285" name="Google Shape;285;p11"/>
          <p:cNvSpPr txBox="1"/>
          <p:nvPr>
            <p:ph type="title"/>
          </p:nvPr>
        </p:nvSpPr>
        <p:spPr>
          <a:xfrm>
            <a:off x="812782" y="5298461"/>
            <a:ext cx="10883429" cy="772156"/>
          </a:xfrm>
          <a:prstGeom prst="rect">
            <a:avLst/>
          </a:prstGeom>
          <a:noFill/>
          <a:ln>
            <a:noFill/>
          </a:ln>
        </p:spPr>
        <p:txBody>
          <a:bodyPr anchorCtr="0" anchor="t" bIns="0" lIns="0" spcFirstLastPara="1" rIns="0" wrap="square" tIns="0">
            <a:normAutofit/>
          </a:bodyPr>
          <a:lstStyle/>
          <a:p>
            <a:pPr indent="0" lvl="0" marL="0" rtl="0" algn="l">
              <a:lnSpc>
                <a:spcPct val="104999"/>
              </a:lnSpc>
              <a:spcBef>
                <a:spcPts val="0"/>
              </a:spcBef>
              <a:spcAft>
                <a:spcPts val="0"/>
              </a:spcAft>
              <a:buClr>
                <a:srgbClr val="FAF6F1"/>
              </a:buClr>
              <a:buSzPts val="5600"/>
              <a:buFont typeface="Rubik"/>
              <a:buNone/>
            </a:pPr>
            <a:r>
              <a:rPr b="1" i="0" lang="en-US" sz="5600">
                <a:solidFill>
                  <a:srgbClr val="FAF6F1"/>
                </a:solidFill>
                <a:latin typeface="Rubik"/>
                <a:ea typeface="Rubik"/>
                <a:cs typeface="Rubik"/>
                <a:sym typeface="Rubik"/>
              </a:rPr>
              <a:t>Obrigado!</a:t>
            </a:r>
            <a:endParaRPr sz="5600"/>
          </a:p>
        </p:txBody>
      </p:sp>
    </p:spTree>
  </p:cSld>
  <p:clrMapOvr>
    <a:masterClrMapping/>
  </p:clrMapOvr>
</p:sld>
</file>

<file path=ppt/theme/theme1.xml><?xml version="1.0" encoding="utf-8"?>
<a:theme xmlns:a="http://schemas.openxmlformats.org/drawingml/2006/main" xmlns:r="http://schemas.openxmlformats.org/officeDocument/2006/relationships" name="Pitch — Nutrição no iFood">
  <a:themeElements>
    <a:clrScheme name="Pitch — Nutrição no iFood">
      <a:dk1>
        <a:srgbClr val="1E1A1B"/>
      </a:dk1>
      <a:lt1>
        <a:srgbClr val="FAF6F1"/>
      </a:lt1>
      <a:dk2>
        <a:srgbClr val="555151"/>
      </a:dk2>
      <a:lt2>
        <a:srgbClr val="E4E0DC"/>
      </a:lt2>
      <a:accent1>
        <a:srgbClr val="C8202F"/>
      </a:accent1>
      <a:accent2>
        <a:srgbClr val="8E1621"/>
      </a:accent2>
      <a:accent3>
        <a:srgbClr val="FF7A7C"/>
      </a:accent3>
      <a:accent4>
        <a:srgbClr val="E5383B"/>
      </a:accent4>
      <a:accent5>
        <a:srgbClr val="FFD9D6"/>
      </a:accent5>
      <a:accent6>
        <a:srgbClr val="4F4648"/>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itch — Nutrição no iFood">
  <a:themeElements>
    <a:clrScheme name="Pitch — Nutrição no iFood">
      <a:dk1>
        <a:srgbClr val="1E1A1B"/>
      </a:dk1>
      <a:lt1>
        <a:srgbClr val="FAF6F1"/>
      </a:lt1>
      <a:dk2>
        <a:srgbClr val="555151"/>
      </a:dk2>
      <a:lt2>
        <a:srgbClr val="E4E0DC"/>
      </a:lt2>
      <a:accent1>
        <a:srgbClr val="C8202F"/>
      </a:accent1>
      <a:accent2>
        <a:srgbClr val="8E1621"/>
      </a:accent2>
      <a:accent3>
        <a:srgbClr val="FF7A7C"/>
      </a:accent3>
      <a:accent4>
        <a:srgbClr val="E5383B"/>
      </a:accent4>
      <a:accent5>
        <a:srgbClr val="FFD9D6"/>
      </a:accent5>
      <a:accent6>
        <a:srgbClr val="4F4648"/>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2026-10-18T15:03:19Z</dcterms:created>
</cp:coreProperties>
</file>